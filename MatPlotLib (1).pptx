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41"/>
  </p:notesMasterIdLst>
  <p:sldIdLst>
    <p:sldId id="256" r:id="rId3"/>
    <p:sldId id="257" r:id="rId4"/>
    <p:sldId id="258" r:id="rId5"/>
    <p:sldId id="278" r:id="rId6"/>
    <p:sldId id="284" r:id="rId7"/>
    <p:sldId id="286" r:id="rId8"/>
    <p:sldId id="285" r:id="rId9"/>
    <p:sldId id="287" r:id="rId10"/>
    <p:sldId id="288" r:id="rId11"/>
    <p:sldId id="289" r:id="rId12"/>
    <p:sldId id="290" r:id="rId13"/>
    <p:sldId id="291" r:id="rId14"/>
    <p:sldId id="292" r:id="rId15"/>
    <p:sldId id="304" r:id="rId16"/>
    <p:sldId id="293" r:id="rId17"/>
    <p:sldId id="294" r:id="rId18"/>
    <p:sldId id="295" r:id="rId19"/>
    <p:sldId id="305" r:id="rId20"/>
    <p:sldId id="306" r:id="rId21"/>
    <p:sldId id="297" r:id="rId22"/>
    <p:sldId id="312" r:id="rId23"/>
    <p:sldId id="298" r:id="rId24"/>
    <p:sldId id="299" r:id="rId25"/>
    <p:sldId id="301" r:id="rId26"/>
    <p:sldId id="300" r:id="rId27"/>
    <p:sldId id="302" r:id="rId28"/>
    <p:sldId id="303" r:id="rId29"/>
    <p:sldId id="307" r:id="rId30"/>
    <p:sldId id="308" r:id="rId31"/>
    <p:sldId id="309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275" r:id="rId4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567" autoAdjust="0"/>
  </p:normalViewPr>
  <p:slideViewPr>
    <p:cSldViewPr snapToGrid="0">
      <p:cViewPr varScale="1">
        <p:scale>
          <a:sx n="78" d="100"/>
          <a:sy n="78" d="100"/>
        </p:scale>
        <p:origin x="1176" y="90"/>
      </p:cViewPr>
      <p:guideLst>
        <p:guide orient="horz" pos="162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e82e298cf9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e82e298cf9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e82e298cf9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e82e298cf9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e82e298cf9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e82e298cf9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rgbClr val="000088"/>
                </a:solidFill>
                <a:effectLst/>
              </a:rPr>
              <a:t>Last 2 coordinates (1,1) shows the panning so if you make 0.5 0.5 it will make </a:t>
            </a:r>
            <a:r>
              <a:rPr lang="en-IN">
                <a:solidFill>
                  <a:srgbClr val="000088"/>
                </a:solidFill>
                <a:effectLst/>
              </a:rPr>
              <a:t>it small</a:t>
            </a:r>
            <a:endParaRPr lang="en-IN" dirty="0">
              <a:solidFill>
                <a:srgbClr val="000088"/>
              </a:solidFill>
              <a:effectLst/>
            </a:endParaRPr>
          </a:p>
          <a:p>
            <a:endParaRPr lang="en-IN" dirty="0">
              <a:solidFill>
                <a:srgbClr val="000088"/>
              </a:solidFill>
              <a:effectLst/>
            </a:endParaRPr>
          </a:p>
          <a:p>
            <a:endParaRPr lang="en-IN" dirty="0">
              <a:solidFill>
                <a:srgbClr val="000088"/>
              </a:solidFill>
              <a:effectLst/>
            </a:endParaRPr>
          </a:p>
          <a:p>
            <a:r>
              <a:rPr lang="en-IN" dirty="0">
                <a:solidFill>
                  <a:srgbClr val="000088"/>
                </a:solidFill>
                <a:effectLst/>
              </a:rPr>
              <a:t>00-&gt; bottom left, 1,1 -&gt; top right</a:t>
            </a:r>
          </a:p>
          <a:p>
            <a:endParaRPr lang="en-IN" dirty="0">
              <a:solidFill>
                <a:srgbClr val="000088"/>
              </a:solidFill>
              <a:effectLst/>
            </a:endParaRPr>
          </a:p>
          <a:p>
            <a:r>
              <a:rPr lang="en-IN" dirty="0">
                <a:solidFill>
                  <a:srgbClr val="000088"/>
                </a:solidFill>
                <a:effectLst/>
              </a:rPr>
              <a:t>import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matplotlib</a:t>
            </a:r>
            <a:r>
              <a:rPr lang="en-IN" dirty="0" err="1">
                <a:solidFill>
                  <a:srgbClr val="666600"/>
                </a:solidFill>
                <a:effectLst/>
              </a:rPr>
              <a:t>.</a:t>
            </a:r>
            <a:r>
              <a:rPr lang="en-IN" dirty="0" err="1">
                <a:solidFill>
                  <a:srgbClr val="000000"/>
                </a:solidFill>
                <a:effectLst/>
              </a:rPr>
              <a:t>pyplot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0088"/>
                </a:solidFill>
                <a:effectLst/>
              </a:rPr>
              <a:t>as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plt</a:t>
            </a:r>
            <a:r>
              <a:rPr lang="en-IN" dirty="0">
                <a:solidFill>
                  <a:srgbClr val="000000"/>
                </a:solidFill>
                <a:effectLst/>
              </a:rPr>
              <a:t> y </a:t>
            </a:r>
            <a:r>
              <a:rPr lang="en-IN" dirty="0">
                <a:solidFill>
                  <a:srgbClr val="666600"/>
                </a:solidFill>
                <a:effectLst/>
              </a:rPr>
              <a:t>=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666600"/>
                </a:solidFill>
                <a:effectLst/>
              </a:rPr>
              <a:t>[</a:t>
            </a:r>
            <a:r>
              <a:rPr lang="en-IN" dirty="0">
                <a:solidFill>
                  <a:srgbClr val="006666"/>
                </a:solidFill>
                <a:effectLst/>
              </a:rPr>
              <a:t>1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6666"/>
                </a:solidFill>
                <a:effectLst/>
              </a:rPr>
              <a:t>4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6666"/>
                </a:solidFill>
                <a:effectLst/>
              </a:rPr>
              <a:t>9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6666"/>
                </a:solidFill>
                <a:effectLst/>
              </a:rPr>
              <a:t>16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6666"/>
                </a:solidFill>
                <a:effectLst/>
              </a:rPr>
              <a:t>25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6666"/>
                </a:solidFill>
                <a:effectLst/>
              </a:rPr>
              <a:t>36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6666"/>
                </a:solidFill>
                <a:effectLst/>
              </a:rPr>
              <a:t>49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6666"/>
                </a:solidFill>
                <a:effectLst/>
              </a:rPr>
              <a:t>64</a:t>
            </a:r>
            <a:r>
              <a:rPr lang="en-IN" dirty="0">
                <a:solidFill>
                  <a:srgbClr val="666600"/>
                </a:solidFill>
                <a:effectLst/>
              </a:rPr>
              <a:t>]</a:t>
            </a:r>
            <a:r>
              <a:rPr lang="en-IN" dirty="0">
                <a:solidFill>
                  <a:srgbClr val="000000"/>
                </a:solidFill>
                <a:effectLst/>
              </a:rPr>
              <a:t> x1 </a:t>
            </a:r>
            <a:r>
              <a:rPr lang="en-IN" dirty="0">
                <a:solidFill>
                  <a:srgbClr val="666600"/>
                </a:solidFill>
                <a:effectLst/>
              </a:rPr>
              <a:t>=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666600"/>
                </a:solidFill>
                <a:effectLst/>
              </a:rPr>
              <a:t>[</a:t>
            </a:r>
            <a:r>
              <a:rPr lang="en-IN" dirty="0">
                <a:solidFill>
                  <a:srgbClr val="006666"/>
                </a:solidFill>
                <a:effectLst/>
              </a:rPr>
              <a:t>1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6666"/>
                </a:solidFill>
                <a:effectLst/>
              </a:rPr>
              <a:t>16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6666"/>
                </a:solidFill>
                <a:effectLst/>
              </a:rPr>
              <a:t>30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6666"/>
                </a:solidFill>
                <a:effectLst/>
              </a:rPr>
              <a:t>42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6666"/>
                </a:solidFill>
                <a:effectLst/>
              </a:rPr>
              <a:t>55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6666"/>
                </a:solidFill>
                <a:effectLst/>
              </a:rPr>
              <a:t>68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6666"/>
                </a:solidFill>
                <a:effectLst/>
              </a:rPr>
              <a:t>77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6666"/>
                </a:solidFill>
                <a:effectLst/>
              </a:rPr>
              <a:t>88</a:t>
            </a:r>
            <a:r>
              <a:rPr lang="en-IN" dirty="0">
                <a:solidFill>
                  <a:srgbClr val="666600"/>
                </a:solidFill>
                <a:effectLst/>
              </a:rPr>
              <a:t>]</a:t>
            </a:r>
            <a:r>
              <a:rPr lang="en-IN" dirty="0">
                <a:solidFill>
                  <a:srgbClr val="000000"/>
                </a:solidFill>
                <a:effectLst/>
              </a:rPr>
              <a:t> x2 </a:t>
            </a:r>
            <a:r>
              <a:rPr lang="en-IN" dirty="0">
                <a:solidFill>
                  <a:srgbClr val="666600"/>
                </a:solidFill>
                <a:effectLst/>
              </a:rPr>
              <a:t>=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666600"/>
                </a:solidFill>
                <a:effectLst/>
              </a:rPr>
              <a:t>[</a:t>
            </a:r>
            <a:r>
              <a:rPr lang="en-IN" dirty="0">
                <a:solidFill>
                  <a:srgbClr val="006666"/>
                </a:solidFill>
                <a:effectLst/>
              </a:rPr>
              <a:t>1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6666"/>
                </a:solidFill>
                <a:effectLst/>
              </a:rPr>
              <a:t>6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6666"/>
                </a:solidFill>
                <a:effectLst/>
              </a:rPr>
              <a:t>12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6666"/>
                </a:solidFill>
                <a:effectLst/>
              </a:rPr>
              <a:t>18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6666"/>
                </a:solidFill>
                <a:effectLst/>
              </a:rPr>
              <a:t>28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6666"/>
                </a:solidFill>
                <a:effectLst/>
              </a:rPr>
              <a:t>40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6666"/>
                </a:solidFill>
                <a:effectLst/>
              </a:rPr>
              <a:t>52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6666"/>
                </a:solidFill>
                <a:effectLst/>
              </a:rPr>
              <a:t>65</a:t>
            </a:r>
            <a:r>
              <a:rPr lang="en-IN" dirty="0">
                <a:solidFill>
                  <a:srgbClr val="666600"/>
                </a:solidFill>
                <a:effectLst/>
              </a:rPr>
              <a:t>]</a:t>
            </a:r>
            <a:r>
              <a:rPr lang="en-IN" dirty="0">
                <a:solidFill>
                  <a:srgbClr val="000000"/>
                </a:solidFill>
                <a:effectLst/>
              </a:rPr>
              <a:t> fig </a:t>
            </a:r>
            <a:r>
              <a:rPr lang="en-IN" dirty="0">
                <a:solidFill>
                  <a:srgbClr val="666600"/>
                </a:solidFill>
                <a:effectLst/>
              </a:rPr>
              <a:t>=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plt</a:t>
            </a:r>
            <a:r>
              <a:rPr lang="en-IN" dirty="0" err="1">
                <a:solidFill>
                  <a:srgbClr val="666600"/>
                </a:solidFill>
                <a:effectLst/>
              </a:rPr>
              <a:t>.</a:t>
            </a:r>
            <a:r>
              <a:rPr lang="en-IN" dirty="0" err="1">
                <a:solidFill>
                  <a:srgbClr val="000000"/>
                </a:solidFill>
                <a:effectLst/>
              </a:rPr>
              <a:t>figure</a:t>
            </a:r>
            <a:r>
              <a:rPr lang="en-IN" dirty="0">
                <a:solidFill>
                  <a:srgbClr val="666600"/>
                </a:solidFill>
                <a:effectLst/>
              </a:rPr>
              <a:t>()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ax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666600"/>
                </a:solidFill>
                <a:effectLst/>
              </a:rPr>
              <a:t>=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fig</a:t>
            </a:r>
            <a:r>
              <a:rPr lang="en-IN" dirty="0" err="1">
                <a:solidFill>
                  <a:srgbClr val="666600"/>
                </a:solidFill>
                <a:effectLst/>
              </a:rPr>
              <a:t>.</a:t>
            </a:r>
            <a:r>
              <a:rPr lang="en-IN" dirty="0" err="1">
                <a:solidFill>
                  <a:srgbClr val="000000"/>
                </a:solidFill>
                <a:effectLst/>
              </a:rPr>
              <a:t>add_axes</a:t>
            </a:r>
            <a:r>
              <a:rPr lang="en-IN" dirty="0">
                <a:solidFill>
                  <a:srgbClr val="666600"/>
                </a:solidFill>
                <a:effectLst/>
              </a:rPr>
              <a:t>([</a:t>
            </a:r>
            <a:r>
              <a:rPr lang="en-IN" dirty="0">
                <a:solidFill>
                  <a:srgbClr val="006666"/>
                </a:solidFill>
                <a:effectLst/>
              </a:rPr>
              <a:t>0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6666"/>
                </a:solidFill>
                <a:effectLst/>
              </a:rPr>
              <a:t>0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6666"/>
                </a:solidFill>
                <a:effectLst/>
              </a:rPr>
              <a:t>1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6666"/>
                </a:solidFill>
                <a:effectLst/>
              </a:rPr>
              <a:t>1</a:t>
            </a:r>
            <a:r>
              <a:rPr lang="en-IN" dirty="0">
                <a:solidFill>
                  <a:srgbClr val="666600"/>
                </a:solidFill>
                <a:effectLst/>
              </a:rPr>
              <a:t>])</a:t>
            </a:r>
            <a:r>
              <a:rPr lang="en-IN" dirty="0">
                <a:solidFill>
                  <a:srgbClr val="000000"/>
                </a:solidFill>
                <a:effectLst/>
              </a:rPr>
              <a:t> l1 </a:t>
            </a:r>
            <a:r>
              <a:rPr lang="en-IN" dirty="0">
                <a:solidFill>
                  <a:srgbClr val="666600"/>
                </a:solidFill>
                <a:effectLst/>
              </a:rPr>
              <a:t>=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ax</a:t>
            </a:r>
            <a:r>
              <a:rPr lang="en-IN" dirty="0" err="1">
                <a:solidFill>
                  <a:srgbClr val="666600"/>
                </a:solidFill>
                <a:effectLst/>
              </a:rPr>
              <a:t>.</a:t>
            </a:r>
            <a:r>
              <a:rPr lang="en-IN" dirty="0" err="1">
                <a:solidFill>
                  <a:srgbClr val="000000"/>
                </a:solidFill>
                <a:effectLst/>
              </a:rPr>
              <a:t>plot</a:t>
            </a:r>
            <a:r>
              <a:rPr lang="en-IN" dirty="0">
                <a:solidFill>
                  <a:srgbClr val="666600"/>
                </a:solidFill>
                <a:effectLst/>
              </a:rPr>
              <a:t>(</a:t>
            </a:r>
            <a:r>
              <a:rPr lang="en-IN" dirty="0">
                <a:solidFill>
                  <a:srgbClr val="000000"/>
                </a:solidFill>
                <a:effectLst/>
              </a:rPr>
              <a:t>x1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y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8800"/>
                </a:solidFill>
                <a:effectLst/>
              </a:rPr>
              <a:t>'ys-'</a:t>
            </a:r>
            <a:r>
              <a:rPr lang="en-IN" dirty="0">
                <a:solidFill>
                  <a:srgbClr val="666600"/>
                </a:solidFill>
                <a:effectLst/>
              </a:rPr>
              <a:t>)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880000"/>
                </a:solidFill>
                <a:effectLst/>
              </a:rPr>
              <a:t># solid line with yellow colour and square marker</a:t>
            </a:r>
            <a:r>
              <a:rPr lang="en-IN" dirty="0">
                <a:solidFill>
                  <a:srgbClr val="000000"/>
                </a:solidFill>
                <a:effectLst/>
              </a:rPr>
              <a:t> l2 </a:t>
            </a:r>
            <a:r>
              <a:rPr lang="en-IN" dirty="0">
                <a:solidFill>
                  <a:srgbClr val="666600"/>
                </a:solidFill>
                <a:effectLst/>
              </a:rPr>
              <a:t>=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ax</a:t>
            </a:r>
            <a:r>
              <a:rPr lang="en-IN" dirty="0" err="1">
                <a:solidFill>
                  <a:srgbClr val="666600"/>
                </a:solidFill>
                <a:effectLst/>
              </a:rPr>
              <a:t>.</a:t>
            </a:r>
            <a:r>
              <a:rPr lang="en-IN" dirty="0" err="1">
                <a:solidFill>
                  <a:srgbClr val="000000"/>
                </a:solidFill>
                <a:effectLst/>
              </a:rPr>
              <a:t>plot</a:t>
            </a:r>
            <a:r>
              <a:rPr lang="en-IN" dirty="0">
                <a:solidFill>
                  <a:srgbClr val="666600"/>
                </a:solidFill>
                <a:effectLst/>
              </a:rPr>
              <a:t>(</a:t>
            </a:r>
            <a:r>
              <a:rPr lang="en-IN" dirty="0">
                <a:solidFill>
                  <a:srgbClr val="000000"/>
                </a:solidFill>
                <a:effectLst/>
              </a:rPr>
              <a:t>x2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y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8800"/>
                </a:solidFill>
                <a:effectLst/>
              </a:rPr>
              <a:t>'go--'</a:t>
            </a:r>
            <a:r>
              <a:rPr lang="en-IN" dirty="0">
                <a:solidFill>
                  <a:srgbClr val="666600"/>
                </a:solidFill>
                <a:effectLst/>
              </a:rPr>
              <a:t>)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880000"/>
                </a:solidFill>
                <a:effectLst/>
              </a:rPr>
              <a:t># dash line with green colour and circle marker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ax</a:t>
            </a:r>
            <a:r>
              <a:rPr lang="en-IN" dirty="0" err="1">
                <a:solidFill>
                  <a:srgbClr val="666600"/>
                </a:solidFill>
                <a:effectLst/>
              </a:rPr>
              <a:t>.</a:t>
            </a:r>
            <a:r>
              <a:rPr lang="en-IN" dirty="0" err="1">
                <a:solidFill>
                  <a:srgbClr val="000000"/>
                </a:solidFill>
                <a:effectLst/>
              </a:rPr>
              <a:t>legend</a:t>
            </a:r>
            <a:r>
              <a:rPr lang="en-IN" dirty="0">
                <a:solidFill>
                  <a:srgbClr val="666600"/>
                </a:solidFill>
                <a:effectLst/>
              </a:rPr>
              <a:t>(</a:t>
            </a:r>
            <a:r>
              <a:rPr lang="en-IN" dirty="0">
                <a:solidFill>
                  <a:srgbClr val="000000"/>
                </a:solidFill>
                <a:effectLst/>
              </a:rPr>
              <a:t>labels </a:t>
            </a:r>
            <a:r>
              <a:rPr lang="en-IN" dirty="0">
                <a:solidFill>
                  <a:srgbClr val="666600"/>
                </a:solidFill>
                <a:effectLst/>
              </a:rPr>
              <a:t>=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666600"/>
                </a:solidFill>
                <a:effectLst/>
              </a:rPr>
              <a:t>(</a:t>
            </a:r>
            <a:r>
              <a:rPr lang="en-IN" dirty="0">
                <a:solidFill>
                  <a:srgbClr val="008800"/>
                </a:solidFill>
                <a:effectLst/>
              </a:rPr>
              <a:t>'tv'</a:t>
            </a:r>
            <a:r>
              <a:rPr lang="en-IN" dirty="0">
                <a:solidFill>
                  <a:srgbClr val="666600"/>
                </a:solidFill>
                <a:effectLst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8800"/>
                </a:solidFill>
                <a:effectLst/>
              </a:rPr>
              <a:t>'Smartphone'</a:t>
            </a:r>
            <a:r>
              <a:rPr lang="en-IN" dirty="0">
                <a:solidFill>
                  <a:srgbClr val="666600"/>
                </a:solidFill>
                <a:effectLst/>
              </a:rPr>
              <a:t>),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loc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666600"/>
                </a:solidFill>
                <a:effectLst/>
              </a:rPr>
              <a:t>=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008800"/>
                </a:solidFill>
                <a:effectLst/>
              </a:rPr>
              <a:t>'lower right'</a:t>
            </a:r>
            <a:r>
              <a:rPr lang="en-IN" dirty="0">
                <a:solidFill>
                  <a:srgbClr val="666600"/>
                </a:solidFill>
                <a:effectLst/>
              </a:rPr>
              <a:t>)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>
                <a:solidFill>
                  <a:srgbClr val="880000"/>
                </a:solidFill>
                <a:effectLst/>
              </a:rPr>
              <a:t># legend placed at lower right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ax</a:t>
            </a:r>
            <a:r>
              <a:rPr lang="en-IN" dirty="0" err="1">
                <a:solidFill>
                  <a:srgbClr val="666600"/>
                </a:solidFill>
                <a:effectLst/>
              </a:rPr>
              <a:t>.</a:t>
            </a:r>
            <a:r>
              <a:rPr lang="en-IN" dirty="0" err="1">
                <a:solidFill>
                  <a:srgbClr val="000000"/>
                </a:solidFill>
                <a:effectLst/>
              </a:rPr>
              <a:t>set_title</a:t>
            </a:r>
            <a:r>
              <a:rPr lang="en-IN" dirty="0">
                <a:solidFill>
                  <a:srgbClr val="666600"/>
                </a:solidFill>
                <a:effectLst/>
              </a:rPr>
              <a:t>(</a:t>
            </a:r>
            <a:r>
              <a:rPr lang="en-IN" dirty="0">
                <a:solidFill>
                  <a:srgbClr val="008800"/>
                </a:solidFill>
                <a:effectLst/>
              </a:rPr>
              <a:t>"Advertisement effect on sales"</a:t>
            </a:r>
            <a:r>
              <a:rPr lang="en-IN" dirty="0">
                <a:solidFill>
                  <a:srgbClr val="666600"/>
                </a:solidFill>
                <a:effectLst/>
              </a:rPr>
              <a:t>)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ax</a:t>
            </a:r>
            <a:r>
              <a:rPr lang="en-IN" dirty="0" err="1">
                <a:solidFill>
                  <a:srgbClr val="666600"/>
                </a:solidFill>
                <a:effectLst/>
              </a:rPr>
              <a:t>.</a:t>
            </a:r>
            <a:r>
              <a:rPr lang="en-IN" dirty="0" err="1">
                <a:solidFill>
                  <a:srgbClr val="000000"/>
                </a:solidFill>
                <a:effectLst/>
              </a:rPr>
              <a:t>set_xlabel</a:t>
            </a:r>
            <a:r>
              <a:rPr lang="en-IN" dirty="0">
                <a:solidFill>
                  <a:srgbClr val="666600"/>
                </a:solidFill>
                <a:effectLst/>
              </a:rPr>
              <a:t>(</a:t>
            </a:r>
            <a:r>
              <a:rPr lang="en-IN" dirty="0">
                <a:solidFill>
                  <a:srgbClr val="008800"/>
                </a:solidFill>
                <a:effectLst/>
              </a:rPr>
              <a:t>'medium'</a:t>
            </a:r>
            <a:r>
              <a:rPr lang="en-IN" dirty="0">
                <a:solidFill>
                  <a:srgbClr val="666600"/>
                </a:solidFill>
                <a:effectLst/>
              </a:rPr>
              <a:t>)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ax</a:t>
            </a:r>
            <a:r>
              <a:rPr lang="en-IN" dirty="0" err="1">
                <a:solidFill>
                  <a:srgbClr val="666600"/>
                </a:solidFill>
                <a:effectLst/>
              </a:rPr>
              <a:t>.</a:t>
            </a:r>
            <a:r>
              <a:rPr lang="en-IN" dirty="0" err="1">
                <a:solidFill>
                  <a:srgbClr val="000000"/>
                </a:solidFill>
                <a:effectLst/>
              </a:rPr>
              <a:t>set_ylabel</a:t>
            </a:r>
            <a:r>
              <a:rPr lang="en-IN" dirty="0">
                <a:solidFill>
                  <a:srgbClr val="666600"/>
                </a:solidFill>
                <a:effectLst/>
              </a:rPr>
              <a:t>(</a:t>
            </a:r>
            <a:r>
              <a:rPr lang="en-IN" dirty="0">
                <a:solidFill>
                  <a:srgbClr val="008800"/>
                </a:solidFill>
                <a:effectLst/>
              </a:rPr>
              <a:t>'sales'</a:t>
            </a:r>
            <a:r>
              <a:rPr lang="en-IN" dirty="0">
                <a:solidFill>
                  <a:srgbClr val="666600"/>
                </a:solidFill>
                <a:effectLst/>
              </a:rPr>
              <a:t>)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plt</a:t>
            </a:r>
            <a:r>
              <a:rPr lang="en-IN" dirty="0" err="1">
                <a:solidFill>
                  <a:srgbClr val="666600"/>
                </a:solidFill>
                <a:effectLst/>
              </a:rPr>
              <a:t>.</a:t>
            </a:r>
            <a:r>
              <a:rPr lang="en-IN" dirty="0" err="1">
                <a:solidFill>
                  <a:srgbClr val="000000"/>
                </a:solidFill>
                <a:effectLst/>
              </a:rPr>
              <a:t>show</a:t>
            </a:r>
            <a:r>
              <a:rPr lang="en-IN" dirty="0">
                <a:solidFill>
                  <a:srgbClr val="666600"/>
                </a:solidFill>
                <a:effectLst/>
              </a:rPr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122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rgbClr val="CC7832"/>
                </a:solidFill>
                <a:effectLst/>
              </a:rPr>
              <a:t>from </a:t>
            </a:r>
            <a:r>
              <a:rPr lang="en-IN" dirty="0" err="1"/>
              <a:t>shapely.geometry</a:t>
            </a:r>
            <a:r>
              <a:rPr lang="en-IN" dirty="0"/>
              <a:t> </a:t>
            </a:r>
            <a:r>
              <a:rPr lang="en-IN" dirty="0">
                <a:solidFill>
                  <a:srgbClr val="CC7832"/>
                </a:solidFill>
                <a:effectLst/>
              </a:rPr>
              <a:t>import </a:t>
            </a:r>
            <a:r>
              <a:rPr lang="en-IN" dirty="0"/>
              <a:t>Polygon</a:t>
            </a:r>
            <a:br>
              <a:rPr lang="en-IN" dirty="0"/>
            </a:br>
            <a:r>
              <a:rPr lang="en-IN" dirty="0" err="1"/>
              <a:t>plt.rcParams</a:t>
            </a:r>
            <a:r>
              <a:rPr lang="en-IN" dirty="0"/>
              <a:t>[</a:t>
            </a:r>
            <a:r>
              <a:rPr lang="en-IN" dirty="0">
                <a:solidFill>
                  <a:srgbClr val="6A8759"/>
                </a:solidFill>
                <a:effectLst/>
              </a:rPr>
              <a:t>"</a:t>
            </a:r>
            <a:r>
              <a:rPr lang="en-IN" dirty="0" err="1">
                <a:solidFill>
                  <a:srgbClr val="6A8759"/>
                </a:solidFill>
                <a:effectLst/>
              </a:rPr>
              <a:t>figure.figsize</a:t>
            </a:r>
            <a:r>
              <a:rPr lang="en-IN" dirty="0">
                <a:solidFill>
                  <a:srgbClr val="6A8759"/>
                </a:solidFill>
                <a:effectLst/>
              </a:rPr>
              <a:t>"</a:t>
            </a:r>
            <a:r>
              <a:rPr lang="en-IN" dirty="0"/>
              <a:t>] = [</a:t>
            </a:r>
            <a:r>
              <a:rPr lang="en-IN" dirty="0">
                <a:solidFill>
                  <a:srgbClr val="6897BB"/>
                </a:solidFill>
                <a:effectLst/>
              </a:rPr>
              <a:t>7.00</a:t>
            </a:r>
            <a:r>
              <a:rPr lang="en-IN" dirty="0">
                <a:solidFill>
                  <a:srgbClr val="CC7832"/>
                </a:solidFill>
                <a:effectLst/>
              </a:rPr>
              <a:t>,</a:t>
            </a:r>
            <a:r>
              <a:rPr lang="en-IN" dirty="0">
                <a:solidFill>
                  <a:srgbClr val="6897BB"/>
                </a:solidFill>
                <a:effectLst/>
              </a:rPr>
              <a:t>3.50</a:t>
            </a:r>
            <a:r>
              <a:rPr lang="en-IN" dirty="0"/>
              <a:t>]</a:t>
            </a:r>
            <a:br>
              <a:rPr lang="en-IN" dirty="0"/>
            </a:br>
            <a:r>
              <a:rPr lang="en-IN" dirty="0" err="1"/>
              <a:t>plt.rcParams</a:t>
            </a:r>
            <a:r>
              <a:rPr lang="en-IN" dirty="0"/>
              <a:t>[</a:t>
            </a:r>
            <a:r>
              <a:rPr lang="en-IN" dirty="0">
                <a:solidFill>
                  <a:srgbClr val="6A8759"/>
                </a:solidFill>
                <a:effectLst/>
              </a:rPr>
              <a:t>"</a:t>
            </a:r>
            <a:r>
              <a:rPr lang="en-IN" dirty="0" err="1">
                <a:solidFill>
                  <a:srgbClr val="6A8759"/>
                </a:solidFill>
                <a:effectLst/>
              </a:rPr>
              <a:t>figure.autolayout</a:t>
            </a:r>
            <a:r>
              <a:rPr lang="en-IN" dirty="0">
                <a:solidFill>
                  <a:srgbClr val="6A8759"/>
                </a:solidFill>
                <a:effectLst/>
              </a:rPr>
              <a:t>"</a:t>
            </a:r>
            <a:r>
              <a:rPr lang="en-IN" dirty="0"/>
              <a:t>] = </a:t>
            </a:r>
            <a:r>
              <a:rPr lang="en-IN" dirty="0">
                <a:solidFill>
                  <a:srgbClr val="CC7832"/>
                </a:solidFill>
                <a:effectLst/>
              </a:rPr>
              <a:t>True</a:t>
            </a:r>
            <a:br>
              <a:rPr lang="en-IN" dirty="0">
                <a:solidFill>
                  <a:srgbClr val="CC7832"/>
                </a:solidFill>
                <a:effectLst/>
              </a:rPr>
            </a:br>
            <a:r>
              <a:rPr lang="en-IN" dirty="0"/>
              <a:t>polygon1 = Polygon([(</a:t>
            </a:r>
            <a:r>
              <a:rPr lang="en-IN" dirty="0">
                <a:solidFill>
                  <a:srgbClr val="6897BB"/>
                </a:solidFill>
                <a:effectLst/>
              </a:rPr>
              <a:t>0</a:t>
            </a:r>
            <a:r>
              <a:rPr lang="en-IN" dirty="0">
                <a:solidFill>
                  <a:srgbClr val="CC7832"/>
                </a:solidFill>
                <a:effectLst/>
              </a:rPr>
              <a:t>,</a:t>
            </a:r>
            <a:r>
              <a:rPr lang="en-IN" dirty="0">
                <a:solidFill>
                  <a:srgbClr val="6897BB"/>
                </a:solidFill>
                <a:effectLst/>
              </a:rPr>
              <a:t>5</a:t>
            </a:r>
            <a:r>
              <a:rPr lang="en-IN" dirty="0"/>
              <a:t>)</a:t>
            </a:r>
            <a:r>
              <a:rPr lang="en-IN" dirty="0">
                <a:solidFill>
                  <a:srgbClr val="CC7832"/>
                </a:solidFill>
                <a:effectLst/>
              </a:rPr>
              <a:t>,</a:t>
            </a:r>
            <a:r>
              <a:rPr lang="en-IN" dirty="0"/>
              <a:t>(</a:t>
            </a:r>
            <a:r>
              <a:rPr lang="en-IN" dirty="0">
                <a:solidFill>
                  <a:srgbClr val="6897BB"/>
                </a:solidFill>
                <a:effectLst/>
              </a:rPr>
              <a:t>1</a:t>
            </a:r>
            <a:r>
              <a:rPr lang="en-IN" dirty="0">
                <a:solidFill>
                  <a:srgbClr val="CC7832"/>
                </a:solidFill>
                <a:effectLst/>
              </a:rPr>
              <a:t>,</a:t>
            </a:r>
            <a:r>
              <a:rPr lang="en-IN" dirty="0">
                <a:solidFill>
                  <a:srgbClr val="6897BB"/>
                </a:solidFill>
                <a:effectLst/>
              </a:rPr>
              <a:t>1</a:t>
            </a:r>
            <a:r>
              <a:rPr lang="en-IN" dirty="0"/>
              <a:t>)</a:t>
            </a:r>
            <a:r>
              <a:rPr lang="en-IN" dirty="0">
                <a:solidFill>
                  <a:srgbClr val="CC7832"/>
                </a:solidFill>
                <a:effectLst/>
              </a:rPr>
              <a:t>,</a:t>
            </a:r>
            <a:r>
              <a:rPr lang="en-IN" dirty="0"/>
              <a:t>(</a:t>
            </a:r>
            <a:r>
              <a:rPr lang="en-IN" dirty="0">
                <a:solidFill>
                  <a:srgbClr val="6897BB"/>
                </a:solidFill>
                <a:effectLst/>
              </a:rPr>
              <a:t>3</a:t>
            </a:r>
            <a:r>
              <a:rPr lang="en-IN" dirty="0">
                <a:solidFill>
                  <a:srgbClr val="CC7832"/>
                </a:solidFill>
                <a:effectLst/>
              </a:rPr>
              <a:t>,</a:t>
            </a:r>
            <a:r>
              <a:rPr lang="en-IN" dirty="0">
                <a:solidFill>
                  <a:srgbClr val="6897BB"/>
                </a:solidFill>
                <a:effectLst/>
              </a:rPr>
              <a:t>0</a:t>
            </a:r>
            <a:r>
              <a:rPr lang="en-IN" dirty="0"/>
              <a:t>)</a:t>
            </a:r>
            <a:r>
              <a:rPr lang="en-IN" dirty="0">
                <a:solidFill>
                  <a:srgbClr val="CC7832"/>
                </a:solidFill>
                <a:effectLst/>
              </a:rPr>
              <a:t>,</a:t>
            </a:r>
            <a:r>
              <a:rPr lang="en-IN" dirty="0"/>
              <a:t>(</a:t>
            </a:r>
            <a:r>
              <a:rPr lang="en-IN" dirty="0">
                <a:solidFill>
                  <a:srgbClr val="6897BB"/>
                </a:solidFill>
                <a:effectLst/>
              </a:rPr>
              <a:t>4</a:t>
            </a:r>
            <a:r>
              <a:rPr lang="en-IN" dirty="0">
                <a:solidFill>
                  <a:srgbClr val="CC7832"/>
                </a:solidFill>
                <a:effectLst/>
              </a:rPr>
              <a:t>,</a:t>
            </a:r>
            <a:r>
              <a:rPr lang="en-IN" dirty="0">
                <a:solidFill>
                  <a:srgbClr val="6897BB"/>
                </a:solidFill>
                <a:effectLst/>
              </a:rPr>
              <a:t>6</a:t>
            </a:r>
            <a:r>
              <a:rPr lang="en-IN" dirty="0"/>
              <a:t>)])</a:t>
            </a:r>
            <a:br>
              <a:rPr lang="en-IN" dirty="0"/>
            </a:br>
            <a:r>
              <a:rPr lang="en-IN" dirty="0" err="1"/>
              <a:t>x</a:t>
            </a:r>
            <a:r>
              <a:rPr lang="en-IN" dirty="0" err="1">
                <a:solidFill>
                  <a:srgbClr val="CC7832"/>
                </a:solidFill>
                <a:effectLst/>
              </a:rPr>
              <a:t>,</a:t>
            </a:r>
            <a:r>
              <a:rPr lang="en-IN" dirty="0" err="1"/>
              <a:t>y</a:t>
            </a:r>
            <a:r>
              <a:rPr lang="en-IN" dirty="0"/>
              <a:t> = polygon1.exterior.xy</a:t>
            </a:r>
            <a:br>
              <a:rPr lang="en-IN" dirty="0"/>
            </a:br>
            <a:r>
              <a:rPr lang="en-IN" dirty="0" err="1"/>
              <a:t>plt.plot</a:t>
            </a:r>
            <a:r>
              <a:rPr lang="en-IN" dirty="0"/>
              <a:t>(</a:t>
            </a:r>
            <a:r>
              <a:rPr lang="en-IN" dirty="0" err="1"/>
              <a:t>x</a:t>
            </a:r>
            <a:r>
              <a:rPr lang="en-IN" dirty="0" err="1">
                <a:solidFill>
                  <a:srgbClr val="CC7832"/>
                </a:solidFill>
                <a:effectLst/>
              </a:rPr>
              <a:t>,</a:t>
            </a:r>
            <a:r>
              <a:rPr lang="en-IN" dirty="0" err="1"/>
              <a:t>y</a:t>
            </a:r>
            <a:r>
              <a:rPr lang="en-IN" dirty="0" err="1">
                <a:solidFill>
                  <a:srgbClr val="CC7832"/>
                </a:solidFill>
                <a:effectLst/>
              </a:rPr>
              <a:t>,</a:t>
            </a:r>
            <a:r>
              <a:rPr lang="en-IN" dirty="0" err="1">
                <a:solidFill>
                  <a:srgbClr val="AA4926"/>
                </a:solidFill>
                <a:effectLst/>
              </a:rPr>
              <a:t>c</a:t>
            </a:r>
            <a:r>
              <a:rPr lang="en-IN" dirty="0"/>
              <a:t>=</a:t>
            </a:r>
            <a:r>
              <a:rPr lang="en-IN" dirty="0">
                <a:solidFill>
                  <a:srgbClr val="6A8759"/>
                </a:solidFill>
                <a:effectLst/>
              </a:rPr>
              <a:t>"red"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63476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rgbClr val="CC7832"/>
                </a:solidFill>
                <a:effectLst/>
              </a:rPr>
              <a:t>import </a:t>
            </a:r>
            <a:r>
              <a:rPr lang="en-IN" dirty="0" err="1"/>
              <a:t>numpy</a:t>
            </a:r>
            <a:r>
              <a:rPr lang="en-IN" dirty="0"/>
              <a:t> </a:t>
            </a:r>
            <a:r>
              <a:rPr lang="en-IN" dirty="0">
                <a:solidFill>
                  <a:srgbClr val="CC7832"/>
                </a:solidFill>
                <a:effectLst/>
              </a:rPr>
              <a:t>as </a:t>
            </a:r>
            <a:r>
              <a:rPr lang="en-IN" dirty="0"/>
              <a:t>np</a:t>
            </a:r>
            <a:br>
              <a:rPr lang="en-IN" dirty="0"/>
            </a:br>
            <a:r>
              <a:rPr lang="en-IN" dirty="0">
                <a:solidFill>
                  <a:srgbClr val="CC7832"/>
                </a:solidFill>
                <a:effectLst/>
              </a:rPr>
              <a:t>import </a:t>
            </a:r>
            <a:r>
              <a:rPr lang="en-IN" dirty="0" err="1"/>
              <a:t>matplotlib.pyplot</a:t>
            </a:r>
            <a:r>
              <a:rPr lang="en-IN" dirty="0"/>
              <a:t> </a:t>
            </a:r>
            <a:r>
              <a:rPr lang="en-IN" dirty="0">
                <a:solidFill>
                  <a:srgbClr val="CC7832"/>
                </a:solidFill>
                <a:effectLst/>
              </a:rPr>
              <a:t>as </a:t>
            </a:r>
            <a:r>
              <a:rPr lang="en-IN" dirty="0" err="1"/>
              <a:t>plt</a:t>
            </a:r>
            <a:br>
              <a:rPr lang="en-IN" dirty="0"/>
            </a:br>
            <a:r>
              <a:rPr lang="en-IN" dirty="0"/>
              <a:t>t = </a:t>
            </a:r>
            <a:r>
              <a:rPr lang="en-IN" dirty="0" err="1"/>
              <a:t>np.arange</a:t>
            </a:r>
            <a:r>
              <a:rPr lang="en-IN" dirty="0"/>
              <a:t>(</a:t>
            </a:r>
            <a:r>
              <a:rPr lang="en-IN" dirty="0">
                <a:solidFill>
                  <a:srgbClr val="6897BB"/>
                </a:solidFill>
                <a:effectLst/>
              </a:rPr>
              <a:t>0.01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10.0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0.001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data1 = </a:t>
            </a:r>
            <a:r>
              <a:rPr lang="en-IN" dirty="0" err="1"/>
              <a:t>np.exp</a:t>
            </a:r>
            <a:r>
              <a:rPr lang="en-IN" dirty="0"/>
              <a:t>(t)</a:t>
            </a:r>
            <a:br>
              <a:rPr lang="en-IN" dirty="0"/>
            </a:br>
            <a:r>
              <a:rPr lang="en-IN" dirty="0"/>
              <a:t>data2 = </a:t>
            </a:r>
            <a:r>
              <a:rPr lang="en-IN" dirty="0" err="1"/>
              <a:t>np.cos</a:t>
            </a:r>
            <a:r>
              <a:rPr lang="en-IN" dirty="0"/>
              <a:t>(</a:t>
            </a:r>
            <a:r>
              <a:rPr lang="en-IN" dirty="0">
                <a:solidFill>
                  <a:srgbClr val="6897BB"/>
                </a:solidFill>
                <a:effectLst/>
              </a:rPr>
              <a:t>0.4 </a:t>
            </a:r>
            <a:r>
              <a:rPr lang="en-IN" dirty="0"/>
              <a:t>* </a:t>
            </a:r>
            <a:r>
              <a:rPr lang="en-IN" dirty="0" err="1"/>
              <a:t>np.pi</a:t>
            </a:r>
            <a:r>
              <a:rPr lang="en-IN" dirty="0"/>
              <a:t> * t)</a:t>
            </a:r>
            <a:br>
              <a:rPr lang="en-IN" dirty="0"/>
            </a:br>
            <a:r>
              <a:rPr lang="en-IN" dirty="0"/>
              <a:t>fig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/>
              <a:t>ax1 = </a:t>
            </a:r>
            <a:r>
              <a:rPr lang="en-IN" dirty="0" err="1"/>
              <a:t>plt.subplots</a:t>
            </a:r>
            <a:r>
              <a:rPr lang="en-IN" dirty="0"/>
              <a:t>()</a:t>
            </a:r>
            <a:br>
              <a:rPr lang="en-IN" dirty="0"/>
            </a:br>
            <a:r>
              <a:rPr lang="en-IN" dirty="0" err="1"/>
              <a:t>color</a:t>
            </a:r>
            <a:r>
              <a:rPr lang="en-IN" dirty="0"/>
              <a:t> = </a:t>
            </a:r>
            <a:r>
              <a:rPr lang="en-IN" dirty="0">
                <a:solidFill>
                  <a:srgbClr val="6A8759"/>
                </a:solidFill>
                <a:effectLst/>
              </a:rPr>
              <a:t>'</a:t>
            </a:r>
            <a:r>
              <a:rPr lang="en-IN" dirty="0" err="1">
                <a:solidFill>
                  <a:srgbClr val="6A8759"/>
                </a:solidFill>
                <a:effectLst/>
              </a:rPr>
              <a:t>tab:orange</a:t>
            </a:r>
            <a:r>
              <a:rPr lang="en-IN" dirty="0">
                <a:solidFill>
                  <a:srgbClr val="6A8759"/>
                </a:solidFill>
                <a:effectLst/>
              </a:rPr>
              <a:t>'</a:t>
            </a:r>
            <a:br>
              <a:rPr lang="en-IN" dirty="0">
                <a:solidFill>
                  <a:srgbClr val="6A8759"/>
                </a:solidFill>
                <a:effectLst/>
              </a:rPr>
            </a:br>
            <a:r>
              <a:rPr lang="en-IN" dirty="0"/>
              <a:t>ax1.set_xlabel(</a:t>
            </a:r>
            <a:r>
              <a:rPr lang="en-IN" dirty="0">
                <a:solidFill>
                  <a:srgbClr val="6A8759"/>
                </a:solidFill>
                <a:effectLst/>
              </a:rPr>
              <a:t>'time (s)'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ax1.set_ylabel(</a:t>
            </a:r>
            <a:r>
              <a:rPr lang="en-IN" dirty="0">
                <a:solidFill>
                  <a:srgbClr val="6A8759"/>
                </a:solidFill>
                <a:effectLst/>
              </a:rPr>
              <a:t>'exp'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 err="1">
                <a:solidFill>
                  <a:srgbClr val="AA4926"/>
                </a:solidFill>
                <a:effectLst/>
              </a:rPr>
              <a:t>color</a:t>
            </a:r>
            <a:r>
              <a:rPr lang="en-IN" dirty="0">
                <a:solidFill>
                  <a:srgbClr val="AA4926"/>
                </a:solidFill>
                <a:effectLst/>
              </a:rPr>
              <a:t> </a:t>
            </a:r>
            <a:r>
              <a:rPr lang="en-IN" dirty="0"/>
              <a:t>= </a:t>
            </a:r>
            <a:r>
              <a:rPr lang="en-IN" dirty="0" err="1"/>
              <a:t>color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ax1.plot(t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/>
              <a:t>data1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 err="1">
                <a:solidFill>
                  <a:srgbClr val="AA4926"/>
                </a:solidFill>
                <a:effectLst/>
              </a:rPr>
              <a:t>color</a:t>
            </a:r>
            <a:r>
              <a:rPr lang="en-IN" dirty="0">
                <a:solidFill>
                  <a:srgbClr val="AA4926"/>
                </a:solidFill>
                <a:effectLst/>
              </a:rPr>
              <a:t> </a:t>
            </a:r>
            <a:r>
              <a:rPr lang="en-IN" dirty="0"/>
              <a:t>= </a:t>
            </a:r>
            <a:r>
              <a:rPr lang="en-IN" dirty="0" err="1"/>
              <a:t>color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ax1.tick_params(</a:t>
            </a:r>
            <a:r>
              <a:rPr lang="en-IN" dirty="0">
                <a:solidFill>
                  <a:srgbClr val="AA4926"/>
                </a:solidFill>
                <a:effectLst/>
              </a:rPr>
              <a:t>axis </a:t>
            </a:r>
            <a:r>
              <a:rPr lang="en-IN" dirty="0"/>
              <a:t>=</a:t>
            </a:r>
            <a:r>
              <a:rPr lang="en-IN" dirty="0">
                <a:solidFill>
                  <a:srgbClr val="6A8759"/>
                </a:solidFill>
                <a:effectLst/>
              </a:rPr>
              <a:t>'y'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 err="1">
                <a:solidFill>
                  <a:srgbClr val="AA4926"/>
                </a:solidFill>
                <a:effectLst/>
              </a:rPr>
              <a:t>labelcolor</a:t>
            </a:r>
            <a:r>
              <a:rPr lang="en-IN" dirty="0">
                <a:solidFill>
                  <a:srgbClr val="AA4926"/>
                </a:solidFill>
                <a:effectLst/>
              </a:rPr>
              <a:t> </a:t>
            </a:r>
            <a:r>
              <a:rPr lang="en-IN" dirty="0"/>
              <a:t>= </a:t>
            </a:r>
            <a:r>
              <a:rPr lang="en-IN" dirty="0" err="1"/>
              <a:t>color</a:t>
            </a:r>
            <a:r>
              <a:rPr lang="en-IN" dirty="0"/>
              <a:t>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ax2 = ax1.twinx()</a:t>
            </a:r>
            <a:br>
              <a:rPr lang="en-IN" dirty="0"/>
            </a:br>
            <a:r>
              <a:rPr lang="en-IN" dirty="0" err="1"/>
              <a:t>color</a:t>
            </a:r>
            <a:r>
              <a:rPr lang="en-IN" dirty="0"/>
              <a:t> = </a:t>
            </a:r>
            <a:r>
              <a:rPr lang="en-IN" dirty="0">
                <a:solidFill>
                  <a:srgbClr val="6A8759"/>
                </a:solidFill>
                <a:effectLst/>
              </a:rPr>
              <a:t>'</a:t>
            </a:r>
            <a:r>
              <a:rPr lang="en-IN" dirty="0" err="1">
                <a:solidFill>
                  <a:srgbClr val="6A8759"/>
                </a:solidFill>
                <a:effectLst/>
              </a:rPr>
              <a:t>tab:cyan</a:t>
            </a:r>
            <a:r>
              <a:rPr lang="en-IN" dirty="0">
                <a:solidFill>
                  <a:srgbClr val="6A8759"/>
                </a:solidFill>
                <a:effectLst/>
              </a:rPr>
              <a:t>'</a:t>
            </a:r>
            <a:br>
              <a:rPr lang="en-IN" dirty="0">
                <a:solidFill>
                  <a:srgbClr val="6A8759"/>
                </a:solidFill>
                <a:effectLst/>
              </a:rPr>
            </a:br>
            <a:r>
              <a:rPr lang="en-IN" dirty="0"/>
              <a:t>ax2.set_ylabel(</a:t>
            </a:r>
            <a:r>
              <a:rPr lang="en-IN" dirty="0">
                <a:solidFill>
                  <a:srgbClr val="6A8759"/>
                </a:solidFill>
                <a:effectLst/>
              </a:rPr>
              <a:t>'cos'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 err="1">
                <a:solidFill>
                  <a:srgbClr val="AA4926"/>
                </a:solidFill>
                <a:effectLst/>
              </a:rPr>
              <a:t>color</a:t>
            </a:r>
            <a:r>
              <a:rPr lang="en-IN" dirty="0">
                <a:solidFill>
                  <a:srgbClr val="AA4926"/>
                </a:solidFill>
                <a:effectLst/>
              </a:rPr>
              <a:t> </a:t>
            </a:r>
            <a:r>
              <a:rPr lang="en-IN" dirty="0"/>
              <a:t>= </a:t>
            </a:r>
            <a:r>
              <a:rPr lang="en-IN" dirty="0" err="1"/>
              <a:t>color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ax2.plot(t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/>
              <a:t>data2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 err="1">
                <a:solidFill>
                  <a:srgbClr val="AA4926"/>
                </a:solidFill>
                <a:effectLst/>
              </a:rPr>
              <a:t>color</a:t>
            </a:r>
            <a:r>
              <a:rPr lang="en-IN" dirty="0">
                <a:solidFill>
                  <a:srgbClr val="AA4926"/>
                </a:solidFill>
                <a:effectLst/>
              </a:rPr>
              <a:t> </a:t>
            </a:r>
            <a:r>
              <a:rPr lang="en-IN" dirty="0"/>
              <a:t>= </a:t>
            </a:r>
            <a:r>
              <a:rPr lang="en-IN" dirty="0" err="1"/>
              <a:t>color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ax2.tick_params(</a:t>
            </a:r>
            <a:r>
              <a:rPr lang="en-IN" dirty="0">
                <a:solidFill>
                  <a:srgbClr val="AA4926"/>
                </a:solidFill>
                <a:effectLst/>
              </a:rPr>
              <a:t>axis </a:t>
            </a:r>
            <a:r>
              <a:rPr lang="en-IN" dirty="0"/>
              <a:t>=</a:t>
            </a:r>
            <a:r>
              <a:rPr lang="en-IN" dirty="0">
                <a:solidFill>
                  <a:srgbClr val="6A8759"/>
                </a:solidFill>
                <a:effectLst/>
              </a:rPr>
              <a:t>'y'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 err="1">
                <a:solidFill>
                  <a:srgbClr val="AA4926"/>
                </a:solidFill>
                <a:effectLst/>
              </a:rPr>
              <a:t>labelcolor</a:t>
            </a:r>
            <a:r>
              <a:rPr lang="en-IN" dirty="0">
                <a:solidFill>
                  <a:srgbClr val="AA4926"/>
                </a:solidFill>
                <a:effectLst/>
              </a:rPr>
              <a:t> </a:t>
            </a:r>
            <a:r>
              <a:rPr lang="en-IN" dirty="0"/>
              <a:t>= </a:t>
            </a:r>
            <a:r>
              <a:rPr lang="en-IN" dirty="0" err="1"/>
              <a:t>color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 err="1"/>
              <a:t>fig.suptitle</a:t>
            </a:r>
            <a:r>
              <a:rPr lang="en-IN" dirty="0"/>
              <a:t>(</a:t>
            </a:r>
            <a:r>
              <a:rPr lang="en-IN" dirty="0">
                <a:solidFill>
                  <a:srgbClr val="6A8759"/>
                </a:solidFill>
                <a:effectLst/>
              </a:rPr>
              <a:t>'</a:t>
            </a:r>
            <a:r>
              <a:rPr lang="en-IN" dirty="0" err="1">
                <a:solidFill>
                  <a:srgbClr val="6A8759"/>
                </a:solidFill>
                <a:effectLst/>
              </a:rPr>
              <a:t>matplotlib.axes.Axes.twinx</a:t>
            </a:r>
            <a:r>
              <a:rPr lang="en-IN" dirty="0">
                <a:solidFill>
                  <a:srgbClr val="6A8759"/>
                </a:solidFill>
                <a:effectLst/>
              </a:rPr>
              <a:t>()function Example</a:t>
            </a:r>
            <a:r>
              <a:rPr lang="en-IN" dirty="0">
                <a:solidFill>
                  <a:srgbClr val="CC7832"/>
                </a:solidFill>
                <a:effectLst/>
              </a:rPr>
              <a:t>\n\n</a:t>
            </a:r>
            <a:r>
              <a:rPr lang="en-IN" dirty="0">
                <a:solidFill>
                  <a:srgbClr val="6A8759"/>
                </a:solidFill>
                <a:effectLst/>
              </a:rPr>
              <a:t>'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 err="1">
                <a:solidFill>
                  <a:srgbClr val="AA4926"/>
                </a:solidFill>
                <a:effectLst/>
              </a:rPr>
              <a:t>fontweight</a:t>
            </a:r>
            <a:r>
              <a:rPr lang="en-IN" dirty="0">
                <a:solidFill>
                  <a:srgbClr val="AA4926"/>
                </a:solidFill>
                <a:effectLst/>
              </a:rPr>
              <a:t> </a:t>
            </a:r>
            <a:r>
              <a:rPr lang="en-IN" dirty="0"/>
              <a:t>=</a:t>
            </a:r>
            <a:r>
              <a:rPr lang="en-IN" dirty="0">
                <a:solidFill>
                  <a:srgbClr val="6A8759"/>
                </a:solidFill>
                <a:effectLst/>
              </a:rPr>
              <a:t>"bold"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25544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rgbClr val="CC7832"/>
                </a:solidFill>
                <a:effectLst/>
              </a:rPr>
              <a:t>import </a:t>
            </a:r>
            <a:r>
              <a:rPr lang="en-IN" dirty="0" err="1"/>
              <a:t>matplotlib.pyplot</a:t>
            </a:r>
            <a:r>
              <a:rPr lang="en-IN" dirty="0"/>
              <a:t> </a:t>
            </a:r>
            <a:r>
              <a:rPr lang="en-IN" dirty="0">
                <a:solidFill>
                  <a:srgbClr val="CC7832"/>
                </a:solidFill>
                <a:effectLst/>
              </a:rPr>
              <a:t>as </a:t>
            </a:r>
            <a:r>
              <a:rPr lang="en-IN" dirty="0" err="1"/>
              <a:t>plt</a:t>
            </a:r>
            <a:br>
              <a:rPr lang="en-IN" dirty="0"/>
            </a:br>
            <a:r>
              <a:rPr lang="en-IN" dirty="0">
                <a:solidFill>
                  <a:srgbClr val="CC7832"/>
                </a:solidFill>
                <a:effectLst/>
              </a:rPr>
              <a:t>import </a:t>
            </a:r>
            <a:r>
              <a:rPr lang="en-IN" dirty="0" err="1"/>
              <a:t>numpy</a:t>
            </a:r>
            <a:r>
              <a:rPr lang="en-IN" dirty="0"/>
              <a:t> </a:t>
            </a:r>
            <a:r>
              <a:rPr lang="en-IN" dirty="0">
                <a:solidFill>
                  <a:srgbClr val="CC7832"/>
                </a:solidFill>
                <a:effectLst/>
              </a:rPr>
              <a:t>as </a:t>
            </a:r>
            <a:r>
              <a:rPr lang="en-IN" dirty="0"/>
              <a:t>np</a:t>
            </a:r>
            <a:br>
              <a:rPr lang="en-IN" dirty="0"/>
            </a:br>
            <a:br>
              <a:rPr lang="en-IN" dirty="0"/>
            </a:br>
            <a:r>
              <a:rPr lang="en-IN" dirty="0"/>
              <a:t>x = </a:t>
            </a:r>
            <a:r>
              <a:rPr lang="en-IN" dirty="0" err="1"/>
              <a:t>np.array</a:t>
            </a:r>
            <a:r>
              <a:rPr lang="en-IN" dirty="0"/>
              <a:t>([</a:t>
            </a:r>
            <a:r>
              <a:rPr lang="en-IN" dirty="0">
                <a:solidFill>
                  <a:srgbClr val="6897BB"/>
                </a:solidFill>
                <a:effectLst/>
              </a:rPr>
              <a:t>10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20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30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40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50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60</a:t>
            </a:r>
            <a:r>
              <a:rPr lang="en-IN" dirty="0"/>
              <a:t>])</a:t>
            </a:r>
            <a:br>
              <a:rPr lang="en-IN" dirty="0"/>
            </a:br>
            <a:r>
              <a:rPr lang="en-IN" dirty="0"/>
              <a:t>y = </a:t>
            </a:r>
            <a:r>
              <a:rPr lang="en-IN" dirty="0" err="1"/>
              <a:t>np.array</a:t>
            </a:r>
            <a:r>
              <a:rPr lang="en-IN" dirty="0"/>
              <a:t>([</a:t>
            </a:r>
            <a:r>
              <a:rPr lang="en-IN" dirty="0">
                <a:solidFill>
                  <a:srgbClr val="6897BB"/>
                </a:solidFill>
                <a:effectLst/>
              </a:rPr>
              <a:t>0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20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40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60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80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100</a:t>
            </a:r>
            <a:r>
              <a:rPr lang="en-IN" dirty="0"/>
              <a:t>])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plt.plot</a:t>
            </a:r>
            <a:r>
              <a:rPr lang="en-IN" dirty="0"/>
              <a:t>(x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/>
              <a:t>y)</a:t>
            </a:r>
            <a:br>
              <a:rPr lang="en-IN" dirty="0"/>
            </a:br>
            <a:r>
              <a:rPr lang="en-IN" dirty="0" err="1"/>
              <a:t>plt.xlabel</a:t>
            </a:r>
            <a:r>
              <a:rPr lang="en-IN" dirty="0"/>
              <a:t>(</a:t>
            </a:r>
            <a:r>
              <a:rPr lang="en-IN" dirty="0">
                <a:solidFill>
                  <a:srgbClr val="6A8759"/>
                </a:solidFill>
                <a:effectLst/>
              </a:rPr>
              <a:t>"X-axis"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 err="1"/>
              <a:t>plt.ylabel</a:t>
            </a:r>
            <a:r>
              <a:rPr lang="en-IN" dirty="0"/>
              <a:t>(</a:t>
            </a:r>
            <a:r>
              <a:rPr lang="en-IN" dirty="0">
                <a:solidFill>
                  <a:srgbClr val="6A8759"/>
                </a:solidFill>
                <a:effectLst/>
              </a:rPr>
              <a:t>"Y-axis"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 err="1"/>
              <a:t>plt.title</a:t>
            </a:r>
            <a:r>
              <a:rPr lang="en-IN" dirty="0"/>
              <a:t>(</a:t>
            </a:r>
            <a:r>
              <a:rPr lang="en-IN" dirty="0">
                <a:solidFill>
                  <a:srgbClr val="6A8759"/>
                </a:solidFill>
                <a:effectLst/>
              </a:rPr>
              <a:t>"Draw a line"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849991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rgbClr val="CC7832"/>
                </a:solidFill>
                <a:effectLst/>
              </a:rPr>
              <a:t>import </a:t>
            </a:r>
            <a:r>
              <a:rPr lang="en-IN" dirty="0" err="1"/>
              <a:t>matplotlib.pyplot</a:t>
            </a:r>
            <a:r>
              <a:rPr lang="en-IN" dirty="0"/>
              <a:t> </a:t>
            </a:r>
            <a:r>
              <a:rPr lang="en-IN" dirty="0">
                <a:solidFill>
                  <a:srgbClr val="CC7832"/>
                </a:solidFill>
                <a:effectLst/>
              </a:rPr>
              <a:t>as </a:t>
            </a:r>
            <a:r>
              <a:rPr lang="en-IN" dirty="0" err="1"/>
              <a:t>plt</a:t>
            </a:r>
            <a:br>
              <a:rPr lang="en-IN" dirty="0"/>
            </a:br>
            <a:r>
              <a:rPr lang="en-IN" dirty="0">
                <a:solidFill>
                  <a:srgbClr val="CC7832"/>
                </a:solidFill>
                <a:effectLst/>
              </a:rPr>
              <a:t>import </a:t>
            </a:r>
            <a:r>
              <a:rPr lang="en-IN" dirty="0" err="1"/>
              <a:t>numpy</a:t>
            </a:r>
            <a:r>
              <a:rPr lang="en-IN" dirty="0"/>
              <a:t> </a:t>
            </a:r>
            <a:r>
              <a:rPr lang="en-IN" dirty="0">
                <a:solidFill>
                  <a:srgbClr val="CC7832"/>
                </a:solidFill>
                <a:effectLst/>
              </a:rPr>
              <a:t>as </a:t>
            </a:r>
            <a:r>
              <a:rPr lang="en-IN" dirty="0"/>
              <a:t>np</a:t>
            </a:r>
            <a:br>
              <a:rPr lang="en-IN" dirty="0"/>
            </a:br>
            <a:br>
              <a:rPr lang="en-IN" dirty="0"/>
            </a:br>
            <a:r>
              <a:rPr lang="en-IN" dirty="0"/>
              <a:t>x = </a:t>
            </a:r>
            <a:r>
              <a:rPr lang="en-IN" dirty="0" err="1"/>
              <a:t>np.array</a:t>
            </a:r>
            <a:r>
              <a:rPr lang="en-IN" dirty="0"/>
              <a:t>([</a:t>
            </a:r>
            <a:r>
              <a:rPr lang="en-IN" dirty="0">
                <a:solidFill>
                  <a:srgbClr val="6A8759"/>
                </a:solidFill>
                <a:effectLst/>
              </a:rPr>
              <a:t>'Java'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A8759"/>
                </a:solidFill>
                <a:effectLst/>
              </a:rPr>
              <a:t>'Python'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A8759"/>
                </a:solidFill>
                <a:effectLst/>
              </a:rPr>
              <a:t>'PHP'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A8759"/>
                </a:solidFill>
                <a:effectLst/>
              </a:rPr>
              <a:t>'JavaScript'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A8759"/>
                </a:solidFill>
                <a:effectLst/>
              </a:rPr>
              <a:t>'C#'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A8759"/>
                </a:solidFill>
                <a:effectLst/>
              </a:rPr>
              <a:t>'C++'</a:t>
            </a:r>
            <a:r>
              <a:rPr lang="en-IN" dirty="0"/>
              <a:t>])</a:t>
            </a:r>
            <a:br>
              <a:rPr lang="en-IN" dirty="0"/>
            </a:br>
            <a:r>
              <a:rPr lang="en-IN" dirty="0"/>
              <a:t>y = </a:t>
            </a:r>
            <a:r>
              <a:rPr lang="en-IN" dirty="0" err="1"/>
              <a:t>np.array</a:t>
            </a:r>
            <a:r>
              <a:rPr lang="en-IN" dirty="0"/>
              <a:t>([</a:t>
            </a:r>
            <a:r>
              <a:rPr lang="en-IN" dirty="0">
                <a:solidFill>
                  <a:srgbClr val="6897BB"/>
                </a:solidFill>
                <a:effectLst/>
              </a:rPr>
              <a:t>22.2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17.6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8.8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8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8.7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>
                <a:solidFill>
                  <a:srgbClr val="6897BB"/>
                </a:solidFill>
                <a:effectLst/>
              </a:rPr>
              <a:t>6.7</a:t>
            </a:r>
            <a:r>
              <a:rPr lang="en-IN" dirty="0"/>
              <a:t>])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plt.bar</a:t>
            </a:r>
            <a:r>
              <a:rPr lang="en-IN" dirty="0"/>
              <a:t>(x</a:t>
            </a:r>
            <a:r>
              <a:rPr lang="en-IN" dirty="0">
                <a:solidFill>
                  <a:srgbClr val="CC7832"/>
                </a:solidFill>
                <a:effectLst/>
              </a:rPr>
              <a:t>, </a:t>
            </a:r>
            <a:r>
              <a:rPr lang="en-IN" dirty="0"/>
              <a:t>y)</a:t>
            </a:r>
            <a:br>
              <a:rPr lang="en-IN" dirty="0"/>
            </a:br>
            <a:r>
              <a:rPr lang="en-IN" dirty="0" err="1"/>
              <a:t>plt.xlabel</a:t>
            </a:r>
            <a:r>
              <a:rPr lang="en-IN" dirty="0"/>
              <a:t>(</a:t>
            </a:r>
            <a:r>
              <a:rPr lang="en-IN" dirty="0">
                <a:solidFill>
                  <a:srgbClr val="6A8759"/>
                </a:solidFill>
                <a:effectLst/>
              </a:rPr>
              <a:t>"Languages"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 err="1"/>
              <a:t>plt.ylabel</a:t>
            </a:r>
            <a:r>
              <a:rPr lang="en-IN" dirty="0"/>
              <a:t>(</a:t>
            </a:r>
            <a:r>
              <a:rPr lang="en-IN" dirty="0">
                <a:solidFill>
                  <a:srgbClr val="6A8759"/>
                </a:solidFill>
                <a:effectLst/>
              </a:rPr>
              <a:t>"Popularity"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 err="1"/>
              <a:t>plt.title</a:t>
            </a:r>
            <a:r>
              <a:rPr lang="en-IN" dirty="0"/>
              <a:t>(</a:t>
            </a:r>
            <a:r>
              <a:rPr lang="en-IN" dirty="0">
                <a:solidFill>
                  <a:srgbClr val="6A8759"/>
                </a:solidFill>
                <a:effectLst/>
              </a:rPr>
              <a:t>"Popularity of Programming Languages Worldwide,</a:t>
            </a:r>
            <a:r>
              <a:rPr lang="en-IN" dirty="0">
                <a:solidFill>
                  <a:srgbClr val="CC7832"/>
                </a:solidFill>
                <a:effectLst/>
              </a:rPr>
              <a:t>\</a:t>
            </a:r>
            <a:r>
              <a:rPr lang="en-IN" dirty="0" err="1">
                <a:solidFill>
                  <a:srgbClr val="CC7832"/>
                </a:solidFill>
                <a:effectLst/>
              </a:rPr>
              <a:t>n</a:t>
            </a:r>
            <a:r>
              <a:rPr lang="en-IN" dirty="0" err="1">
                <a:solidFill>
                  <a:srgbClr val="6A8759"/>
                </a:solidFill>
                <a:effectLst/>
              </a:rPr>
              <a:t>Oct</a:t>
            </a:r>
            <a:r>
              <a:rPr lang="en-IN" dirty="0">
                <a:solidFill>
                  <a:srgbClr val="6A8759"/>
                </a:solidFill>
                <a:effectLst/>
              </a:rPr>
              <a:t> 2017 compared to a year ago"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 err="1"/>
              <a:t>plt.show</a:t>
            </a:r>
            <a:r>
              <a:rPr lang="en-IN" dirty="0"/>
              <a:t>()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2085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573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e82e298d8e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ge82e298d8e_1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56" name="Google Shape;56;p14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57" name="Google Shape;57;p1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5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6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7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1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21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21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3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rgbClr val="E4F5FC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acebook.com/skillslash.academ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.png"/><Relationship Id="rId4" Type="http://schemas.openxmlformats.org/officeDocument/2006/relationships/hyperlink" Target="https://twitter.com/skillslash?lang=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168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8000" b="1">
                <a:solidFill>
                  <a:srgbClr val="E4F5FC"/>
                </a:solidFill>
                <a:latin typeface="Nunito"/>
                <a:ea typeface="Nunito"/>
                <a:cs typeface="Nunito"/>
                <a:sym typeface="Nunito"/>
              </a:rPr>
              <a:t>Python</a:t>
            </a:r>
            <a:endParaRPr sz="8000" b="1">
              <a:solidFill>
                <a:srgbClr val="E4F5F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9" name="Google Shape;109;p25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800" dirty="0">
                <a:solidFill>
                  <a:srgbClr val="D6DF23"/>
                </a:solidFill>
                <a:latin typeface="Nunito"/>
                <a:ea typeface="Nunito"/>
                <a:cs typeface="Nunito"/>
                <a:sym typeface="Nunito"/>
              </a:rPr>
              <a:t>MatplotLib </a:t>
            </a:r>
            <a:endParaRPr sz="2800" dirty="0">
              <a:solidFill>
                <a:srgbClr val="D6DF2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0" name="Google Shape;110;p25"/>
          <p:cNvPicPr preferRelativeResize="0"/>
          <p:nvPr/>
        </p:nvPicPr>
        <p:blipFill rotWithShape="1">
          <a:blip r:embed="rId3">
            <a:alphaModFix/>
          </a:blip>
          <a:srcRect l="4269" t="26443" r="81354" b="26438"/>
          <a:stretch/>
        </p:blipFill>
        <p:spPr>
          <a:xfrm>
            <a:off x="7600950" y="160225"/>
            <a:ext cx="1314452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5"/>
          <p:cNvPicPr preferRelativeResize="0"/>
          <p:nvPr/>
        </p:nvPicPr>
        <p:blipFill rotWithShape="1">
          <a:blip r:embed="rId3">
            <a:alphaModFix/>
          </a:blip>
          <a:srcRect l="18965" t="26443" r="2176" b="26438"/>
          <a:stretch/>
        </p:blipFill>
        <p:spPr>
          <a:xfrm>
            <a:off x="171450" y="4681025"/>
            <a:ext cx="1981199" cy="28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>
            <a:spLocks noGrp="1"/>
          </p:cNvSpPr>
          <p:nvPr>
            <p:ph type="title"/>
          </p:nvPr>
        </p:nvSpPr>
        <p:spPr>
          <a:xfrm>
            <a:off x="387900" y="156000"/>
            <a:ext cx="83682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243168"/>
                </a:solidFill>
                <a:latin typeface="Nunito"/>
                <a:ea typeface="Nunito"/>
                <a:cs typeface="Nunito"/>
                <a:sym typeface="Nunito"/>
              </a:rPr>
              <a:t>MatplotLib</a:t>
            </a:r>
            <a:endParaRPr sz="4000" b="1" dirty="0">
              <a:solidFill>
                <a:srgbClr val="24316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394000" y="1344525"/>
            <a:ext cx="82197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Matplotlib is one of the most popular Python packages used for data visualization.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C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ross-platform library for making 2D plots from data in arrays.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P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rovides an object-oriented API that helps in embedding plots in Applications using Python GUI toolkits such as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PyQt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WxPythonotTkinter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888888"/>
              </a:buClr>
              <a:buSzPts val="1750"/>
              <a:buFont typeface="Arial"/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      Allows visual access to huge amounts of data in digestible visual     	   	</a:t>
            </a:r>
            <a:endParaRPr sz="2000" dirty="0">
              <a:solidFill>
                <a:schemeClr val="bg1"/>
              </a:solidFill>
              <a:latin typeface="Arial" panose="020B0604020202020204" pitchFamily="34" charset="0"/>
              <a:sym typeface="Nunito"/>
            </a:endParaRPr>
          </a:p>
        </p:txBody>
      </p:sp>
      <p:pic>
        <p:nvPicPr>
          <p:cNvPr id="118" name="Google Shape;118;p26"/>
          <p:cNvPicPr preferRelativeResize="0"/>
          <p:nvPr/>
        </p:nvPicPr>
        <p:blipFill rotWithShape="1">
          <a:blip r:embed="rId3">
            <a:alphaModFix/>
          </a:blip>
          <a:srcRect l="2114" t="21749" r="82983" b="31447"/>
          <a:stretch/>
        </p:blipFill>
        <p:spPr>
          <a:xfrm>
            <a:off x="8522400" y="0"/>
            <a:ext cx="621599" cy="4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6"/>
          <p:cNvSpPr txBox="1"/>
          <p:nvPr/>
        </p:nvSpPr>
        <p:spPr>
          <a:xfrm>
            <a:off x="6210900" y="4733625"/>
            <a:ext cx="29331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EE343A"/>
                </a:solidFill>
                <a:latin typeface="Arial"/>
                <a:ea typeface="Arial"/>
                <a:cs typeface="Arial"/>
                <a:sym typeface="Arial"/>
              </a:rPr>
              <a:t>www.skillslash.com</a:t>
            </a:r>
            <a:endParaRPr sz="1300" b="0" i="0" u="none" strike="noStrike" cap="none">
              <a:solidFill>
                <a:srgbClr val="EE343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0" name="Google Shape;120;p26"/>
          <p:cNvGrpSpPr/>
          <p:nvPr/>
        </p:nvGrpSpPr>
        <p:grpSpPr>
          <a:xfrm>
            <a:off x="0" y="5000700"/>
            <a:ext cx="9144000" cy="142800"/>
            <a:chOff x="0" y="0"/>
            <a:chExt cx="9144000" cy="142800"/>
          </a:xfrm>
        </p:grpSpPr>
        <p:sp>
          <p:nvSpPr>
            <p:cNvPr id="121" name="Google Shape;121;p26"/>
            <p:cNvSpPr txBox="1"/>
            <p:nvPr/>
          </p:nvSpPr>
          <p:spPr>
            <a:xfrm>
              <a:off x="3575800" y="0"/>
              <a:ext cx="1856100" cy="142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" name="Google Shape;122;p26"/>
            <p:cNvSpPr txBox="1"/>
            <p:nvPr/>
          </p:nvSpPr>
          <p:spPr>
            <a:xfrm>
              <a:off x="1856000" y="0"/>
              <a:ext cx="1856100" cy="142800"/>
            </a:xfrm>
            <a:prstGeom prst="rect">
              <a:avLst/>
            </a:prstGeom>
            <a:solidFill>
              <a:srgbClr val="EE343A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" name="Google Shape;123;p26"/>
            <p:cNvSpPr txBox="1"/>
            <p:nvPr/>
          </p:nvSpPr>
          <p:spPr>
            <a:xfrm>
              <a:off x="5431900" y="0"/>
              <a:ext cx="1856100" cy="142800"/>
            </a:xfrm>
            <a:prstGeom prst="rect">
              <a:avLst/>
            </a:prstGeom>
            <a:solidFill>
              <a:srgbClr val="F6851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" name="Google Shape;124;p26"/>
            <p:cNvSpPr txBox="1"/>
            <p:nvPr/>
          </p:nvSpPr>
          <p:spPr>
            <a:xfrm>
              <a:off x="7287900" y="0"/>
              <a:ext cx="1856100" cy="142800"/>
            </a:xfrm>
            <a:prstGeom prst="rect">
              <a:avLst/>
            </a:prstGeom>
            <a:solidFill>
              <a:srgbClr val="D6DF2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" name="Google Shape;125;p26"/>
            <p:cNvSpPr txBox="1"/>
            <p:nvPr/>
          </p:nvSpPr>
          <p:spPr>
            <a:xfrm>
              <a:off x="0" y="0"/>
              <a:ext cx="1856100" cy="142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>
            <a:spLocks noGrp="1"/>
          </p:cNvSpPr>
          <p:nvPr>
            <p:ph type="title"/>
          </p:nvPr>
        </p:nvSpPr>
        <p:spPr>
          <a:xfrm>
            <a:off x="387900" y="523875"/>
            <a:ext cx="83682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3600" b="1" dirty="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Import matplotlib</a:t>
            </a:r>
            <a:endParaRPr sz="3600" b="1" dirty="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p27"/>
          <p:cNvSpPr txBox="1">
            <a:spLocks noGrp="1"/>
          </p:cNvSpPr>
          <p:nvPr>
            <p:ph type="body" idx="1"/>
          </p:nvPr>
        </p:nvSpPr>
        <p:spPr>
          <a:xfrm>
            <a:off x="483150" y="1399500"/>
            <a:ext cx="79134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 dirty="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2" name="Google Shape;132;p27"/>
          <p:cNvPicPr preferRelativeResize="0"/>
          <p:nvPr/>
        </p:nvPicPr>
        <p:blipFill rotWithShape="1">
          <a:blip r:embed="rId3">
            <a:alphaModFix/>
          </a:blip>
          <a:srcRect l="2114" t="21749" r="82983" b="31447"/>
          <a:stretch/>
        </p:blipFill>
        <p:spPr>
          <a:xfrm>
            <a:off x="8522400" y="0"/>
            <a:ext cx="621599" cy="4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7"/>
          <p:cNvSpPr txBox="1"/>
          <p:nvPr/>
        </p:nvSpPr>
        <p:spPr>
          <a:xfrm>
            <a:off x="6210900" y="4733625"/>
            <a:ext cx="29331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EE343A"/>
                </a:solidFill>
                <a:latin typeface="Arial"/>
                <a:ea typeface="Arial"/>
                <a:cs typeface="Arial"/>
                <a:sym typeface="Arial"/>
              </a:rPr>
              <a:t>www.skillslash.com</a:t>
            </a:r>
            <a:endParaRPr sz="1300" b="0" i="0" u="none" strike="noStrike" cap="none">
              <a:solidFill>
                <a:srgbClr val="EE343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4" name="Google Shape;134;p27"/>
          <p:cNvGrpSpPr/>
          <p:nvPr/>
        </p:nvGrpSpPr>
        <p:grpSpPr>
          <a:xfrm>
            <a:off x="0" y="5000700"/>
            <a:ext cx="9144000" cy="142800"/>
            <a:chOff x="0" y="0"/>
            <a:chExt cx="9144000" cy="142800"/>
          </a:xfrm>
        </p:grpSpPr>
        <p:sp>
          <p:nvSpPr>
            <p:cNvPr id="135" name="Google Shape;135;p27"/>
            <p:cNvSpPr txBox="1"/>
            <p:nvPr/>
          </p:nvSpPr>
          <p:spPr>
            <a:xfrm>
              <a:off x="3575800" y="0"/>
              <a:ext cx="1856100" cy="142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" name="Google Shape;136;p27"/>
            <p:cNvSpPr txBox="1"/>
            <p:nvPr/>
          </p:nvSpPr>
          <p:spPr>
            <a:xfrm>
              <a:off x="1856000" y="0"/>
              <a:ext cx="1856100" cy="142800"/>
            </a:xfrm>
            <a:prstGeom prst="rect">
              <a:avLst/>
            </a:prstGeom>
            <a:solidFill>
              <a:srgbClr val="EE343A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" name="Google Shape;137;p27"/>
            <p:cNvSpPr txBox="1"/>
            <p:nvPr/>
          </p:nvSpPr>
          <p:spPr>
            <a:xfrm>
              <a:off x="5431900" y="0"/>
              <a:ext cx="1856100" cy="142800"/>
            </a:xfrm>
            <a:prstGeom prst="rect">
              <a:avLst/>
            </a:prstGeom>
            <a:solidFill>
              <a:srgbClr val="F6851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" name="Google Shape;138;p27"/>
            <p:cNvSpPr txBox="1"/>
            <p:nvPr/>
          </p:nvSpPr>
          <p:spPr>
            <a:xfrm>
              <a:off x="7287900" y="0"/>
              <a:ext cx="1856100" cy="142800"/>
            </a:xfrm>
            <a:prstGeom prst="rect">
              <a:avLst/>
            </a:prstGeom>
            <a:solidFill>
              <a:srgbClr val="D6DF2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" name="Google Shape;139;p27"/>
            <p:cNvSpPr txBox="1"/>
            <p:nvPr/>
          </p:nvSpPr>
          <p:spPr>
            <a:xfrm>
              <a:off x="0" y="0"/>
              <a:ext cx="1856100" cy="142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1393F45-A5F5-4E84-9783-CB7F68B15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110" y="1782961"/>
            <a:ext cx="5514426" cy="16339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6B13-0A1B-435A-9988-1A9AAACB9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00" y="208425"/>
            <a:ext cx="8368200" cy="6861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dk2"/>
                </a:solidFill>
                <a:latin typeface="Nunito"/>
              </a:rPr>
              <a:t>Line plots</a:t>
            </a:r>
            <a:endParaRPr lang="en-IN" sz="3600" b="1" dirty="0">
              <a:solidFill>
                <a:schemeClr val="dk2"/>
              </a:solidFill>
              <a:latin typeface="Nuni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4F9305-D554-473E-B5C8-840A9620B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77" y="1425138"/>
            <a:ext cx="5114984" cy="3509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5B3EF9-A974-4125-AB46-FA2E734EF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92" y="2028093"/>
            <a:ext cx="2951131" cy="225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82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B9E5-2F17-47AD-B359-DE3760CE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Bar Plots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96FD7-9924-4573-8238-0F346F352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2D43E-809B-4452-AD6D-1B4B58337E5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5AADBF-A5A4-472A-9D9E-663693468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76" y="1489825"/>
            <a:ext cx="4957823" cy="33724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A584D0-E8D6-44C4-946C-0642322CE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499" y="1704201"/>
            <a:ext cx="3358909" cy="265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170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679E-F088-4085-A658-07756EC5C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Histogram and Bar plot difference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CC340-72C7-4A2D-9430-EF760EE0E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899" y="1489825"/>
            <a:ext cx="8052715" cy="3078900"/>
          </a:xfrm>
        </p:spPr>
        <p:txBody>
          <a:bodyPr>
            <a:normAutofit/>
          </a:bodyPr>
          <a:lstStyle/>
          <a:p>
            <a:r>
              <a:rPr lang="en-US" sz="1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bar graph is the graphical representation of categorical data using rectangular bars where the length of </a:t>
            </a:r>
            <a:r>
              <a:rPr lang="en-US" sz="16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each bar is proportional to the value they</a:t>
            </a:r>
            <a:r>
              <a:rPr lang="en-US" sz="1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represent. </a:t>
            </a:r>
          </a:p>
          <a:p>
            <a:endParaRPr lang="en-US" sz="1600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r>
              <a:rPr lang="en-US" sz="1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histogram is the graphical representation of data where data is grouped into continuous number ranges and each range corresponds to a vertical bar.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56041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B9E5-2F17-47AD-B359-DE3760CE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Histogram Plots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96FD7-9924-4573-8238-0F346F352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2D43E-809B-4452-AD6D-1B4B58337E5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E86AC0-E11F-4D58-98F1-827F51F3F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00" y="1489825"/>
            <a:ext cx="4709171" cy="3078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AD4175-42F1-4936-AD15-7DCA41C96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830" y="1489825"/>
            <a:ext cx="3648075" cy="270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15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FE46D-051C-48AA-9224-7CE6AF0B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Scatter Plots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8E08E-55ED-42E8-A155-1ECF87BC4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CF3CC-5692-4557-8470-4974B762CD0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14547C-4DCE-413C-8C54-2203FF8D8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00" y="1489825"/>
            <a:ext cx="4429124" cy="3126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C2A71E-04C7-4E20-AB81-91941A2EC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360" y="1635694"/>
            <a:ext cx="3626017" cy="278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4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FE46D-051C-48AA-9224-7CE6AF0B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Figures and Axes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8E08E-55ED-42E8-A155-1ECF87BC4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3788" y="1516610"/>
            <a:ext cx="3999900" cy="3078900"/>
          </a:xfrm>
        </p:spPr>
        <p:txBody>
          <a:bodyPr/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The </a:t>
            </a:r>
            <a:r>
              <a:rPr lang="en-US" b="1" dirty="0" err="1">
                <a:solidFill>
                  <a:schemeClr val="bg1"/>
                </a:solidFill>
              </a:rPr>
              <a:t>matplotlib.figure</a:t>
            </a:r>
            <a:r>
              <a:rPr lang="en-US" b="1" dirty="0">
                <a:solidFill>
                  <a:schemeClr val="bg1"/>
                </a:solidFill>
              </a:rPr>
              <a:t> module contains the Figure class. </a:t>
            </a:r>
          </a:p>
          <a:p>
            <a:pPr algn="just"/>
            <a:r>
              <a:rPr lang="en-US" b="1" dirty="0">
                <a:solidFill>
                  <a:schemeClr val="bg1"/>
                </a:solidFill>
              </a:rPr>
              <a:t>It is a top-level container for all plot elements. </a:t>
            </a:r>
          </a:p>
          <a:p>
            <a:pPr algn="just"/>
            <a:r>
              <a:rPr lang="en-US" b="1" dirty="0">
                <a:solidFill>
                  <a:schemeClr val="bg1"/>
                </a:solidFill>
              </a:rPr>
              <a:t>The Figure object is instantiated by calling the figure() function from the </a:t>
            </a:r>
            <a:r>
              <a:rPr lang="en-US" b="1" dirty="0" err="1">
                <a:solidFill>
                  <a:schemeClr val="bg1"/>
                </a:solidFill>
              </a:rPr>
              <a:t>pyplot</a:t>
            </a:r>
            <a:r>
              <a:rPr lang="en-US" b="1" dirty="0">
                <a:solidFill>
                  <a:schemeClr val="bg1"/>
                </a:solidFill>
              </a:rPr>
              <a:t> module −</a:t>
            </a:r>
          </a:p>
          <a:p>
            <a:pPr algn="just"/>
            <a:endParaRPr lang="en-US" b="1" dirty="0">
              <a:solidFill>
                <a:schemeClr val="bg1"/>
              </a:solidFill>
            </a:endParaRPr>
          </a:p>
          <a:p>
            <a:pPr algn="just"/>
            <a:r>
              <a:rPr lang="en-US" b="1" dirty="0">
                <a:solidFill>
                  <a:schemeClr val="bg1"/>
                </a:solidFill>
              </a:rPr>
              <a:t>fig = </a:t>
            </a:r>
            <a:r>
              <a:rPr lang="en-US" b="1" dirty="0" err="1">
                <a:solidFill>
                  <a:schemeClr val="bg1"/>
                </a:solidFill>
              </a:rPr>
              <a:t>plt.figure</a:t>
            </a:r>
            <a:r>
              <a:rPr lang="en-US" b="1" dirty="0">
                <a:solidFill>
                  <a:schemeClr val="bg1"/>
                </a:solidFill>
              </a:rPr>
              <a:t>()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CF3CC-5692-4557-8470-4974B762CD0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0" y="1516610"/>
            <a:ext cx="3999900" cy="3078900"/>
          </a:xfrm>
        </p:spPr>
        <p:txBody>
          <a:bodyPr/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Axes object is the region of the image with the data space. </a:t>
            </a:r>
          </a:p>
          <a:p>
            <a:pPr algn="just"/>
            <a:r>
              <a:rPr lang="en-US" b="1" dirty="0">
                <a:solidFill>
                  <a:schemeClr val="bg1"/>
                </a:solidFill>
              </a:rPr>
              <a:t>A given figure can contain many Axes, but a given Axes object can only be in one Figure. </a:t>
            </a:r>
          </a:p>
          <a:p>
            <a:pPr algn="just"/>
            <a:r>
              <a:rPr lang="en-US" b="1" dirty="0">
                <a:solidFill>
                  <a:schemeClr val="bg1"/>
                </a:solidFill>
              </a:rPr>
              <a:t>The Axes contains two (or three in the case of 3D) Axis objects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7592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0362-ADA0-4E61-9240-499141301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3C1AC-D48D-42B1-BD18-FD3ED6628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A9304-FB53-43F4-84CB-1917512B3D8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D20A4D-E611-4BA2-882C-7BFF1B1EF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" y="458025"/>
            <a:ext cx="8546592" cy="411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26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78B8-7573-439B-836D-9FD4FAE8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WaterMark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A98-BD41-4D6A-9C75-FAE6B896F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E4046-9D5F-41C3-B999-9DBF8921111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7D6AD6-6D82-46CC-8F3A-A0A8C909C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00" y="1144125"/>
            <a:ext cx="5590869" cy="4095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3A641C-CB2E-4E53-8C52-B7A50E28C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507" y="1536088"/>
            <a:ext cx="2815004" cy="207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949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78B8-7573-439B-836D-9FD4FAE8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Shapes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A98-BD41-4D6A-9C75-FAE6B896F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E4046-9D5F-41C3-B999-9DBF8921111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3DDA9B-E88B-496A-94F3-D7E906C06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00" y="1400174"/>
            <a:ext cx="4946100" cy="3078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90DAB4-5F3D-4CB3-9555-05A3AC5C6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462" y="1458292"/>
            <a:ext cx="3087638" cy="296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889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78B8-7573-439B-836D-9FD4FAE8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Polygon and Arrows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A98-BD41-4D6A-9C75-FAE6B896F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E4046-9D5F-41C3-B999-9DBF8921111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4AFDDC-D85D-413D-BE9F-94304F0E6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00" y="1489825"/>
            <a:ext cx="4758531" cy="307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E84CCC-4756-4A57-818B-71B79786A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634" y="1735016"/>
            <a:ext cx="3243262" cy="223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602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78B8-7573-439B-836D-9FD4FAE8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Polygon and Arrows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A98-BD41-4D6A-9C75-FAE6B896F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E4046-9D5F-41C3-B999-9DBF8921111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4AFDDC-D85D-413D-BE9F-94304F0E6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00" y="1489825"/>
            <a:ext cx="4758531" cy="307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E84CCC-4756-4A57-818B-71B79786A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9634" y="1735016"/>
            <a:ext cx="3243262" cy="223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624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78B8-7573-439B-836D-9FD4FAE8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Beizer</a:t>
            </a:r>
            <a:r>
              <a:rPr lang="en-US" b="1" dirty="0">
                <a:solidFill>
                  <a:schemeClr val="bg1"/>
                </a:solidFill>
              </a:rPr>
              <a:t> Curves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A98-BD41-4D6A-9C75-FAE6B896F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E4046-9D5F-41C3-B999-9DBF8921111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736DFF-1DD4-4172-9ACC-6ED87193B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00" y="1376522"/>
            <a:ext cx="5368131" cy="3508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A3462A-18EB-46D5-8493-862B7442D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317" y="1723293"/>
            <a:ext cx="2961805" cy="238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402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78B8-7573-439B-836D-9FD4FAE8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Curves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A98-BD41-4D6A-9C75-FAE6B896F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E4046-9D5F-41C3-B999-9DBF8921111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12BAA8-9CB5-4DB4-BF1D-7C617877F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01" y="1489825"/>
            <a:ext cx="4368300" cy="34061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12B568-0BDE-487A-8750-2962B3979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169" y="1606062"/>
            <a:ext cx="3966835" cy="296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43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78B8-7573-439B-836D-9FD4FAE8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Annotations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A98-BD41-4D6A-9C75-FAE6B896F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The </a:t>
            </a: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annotate() function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 in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urw-din"/>
              </a:rPr>
              <a:t>pyplot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 module of matplotlib library is used to annotate the point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urw-din"/>
              </a:rPr>
              <a:t>xy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 with text s.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E4046-9D5F-41C3-B999-9DBF8921111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70000" lnSpcReduction="20000"/>
          </a:bodyPr>
          <a:lstStyle/>
          <a:p>
            <a:pPr algn="l" fontAlgn="base"/>
            <a:r>
              <a:rPr lang="en-US" b="1" i="1" dirty="0">
                <a:solidFill>
                  <a:srgbClr val="273239"/>
                </a:solidFill>
                <a:effectLst/>
                <a:latin typeface="urw-din"/>
              </a:rPr>
              <a:t>Syntax: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 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urw-din"/>
              </a:rPr>
              <a:t>angle_spectrum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(x, Fs=2, Fc=0, window=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urw-din"/>
              </a:rPr>
              <a:t>mlab.window_hanning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, 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urw-din"/>
              </a:rPr>
              <a:t>pad_to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=None, sides=’default’, **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urw-din"/>
              </a:rPr>
              <a:t>kwargs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)</a:t>
            </a:r>
          </a:p>
          <a:p>
            <a:pPr algn="l" fontAlgn="base"/>
            <a:r>
              <a:rPr lang="en-US" b="1" i="1" dirty="0">
                <a:solidFill>
                  <a:srgbClr val="273239"/>
                </a:solidFill>
                <a:effectLst/>
                <a:latin typeface="urw-din"/>
              </a:rPr>
              <a:t>Parameters: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 This method accept the following parameters that are described below: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273239"/>
                </a:solidFill>
                <a:effectLst/>
                <a:latin typeface="urw-din"/>
              </a:rPr>
              <a:t>s: 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This parameter is the text of the annotation.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1" dirty="0" err="1">
                <a:solidFill>
                  <a:srgbClr val="273239"/>
                </a:solidFill>
                <a:effectLst/>
                <a:latin typeface="urw-din"/>
              </a:rPr>
              <a:t>xy</a:t>
            </a:r>
            <a:r>
              <a:rPr lang="en-US" b="1" i="1" dirty="0">
                <a:solidFill>
                  <a:srgbClr val="273239"/>
                </a:solidFill>
                <a:effectLst/>
                <a:latin typeface="urw-din"/>
              </a:rPr>
              <a:t>: 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This parameter is the point (x, y) to annotate.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1" dirty="0" err="1">
                <a:solidFill>
                  <a:srgbClr val="273239"/>
                </a:solidFill>
                <a:effectLst/>
                <a:latin typeface="urw-din"/>
              </a:rPr>
              <a:t>xytext</a:t>
            </a:r>
            <a:r>
              <a:rPr lang="en-US" b="1" i="1" dirty="0">
                <a:solidFill>
                  <a:srgbClr val="273239"/>
                </a:solidFill>
                <a:effectLst/>
                <a:latin typeface="urw-din"/>
              </a:rPr>
              <a:t>: 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This parameter is an optional parameter. It is The position (x, y) to place the text at.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1" dirty="0" err="1">
                <a:solidFill>
                  <a:srgbClr val="273239"/>
                </a:solidFill>
                <a:effectLst/>
                <a:latin typeface="urw-din"/>
              </a:rPr>
              <a:t>xycoords</a:t>
            </a:r>
            <a:r>
              <a:rPr lang="en-US" b="1" i="1" dirty="0">
                <a:solidFill>
                  <a:srgbClr val="273239"/>
                </a:solidFill>
                <a:effectLst/>
                <a:latin typeface="urw-din"/>
              </a:rPr>
              <a:t>: 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This parameter is also an optional parameter and contains the string value.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1" dirty="0" err="1">
                <a:solidFill>
                  <a:srgbClr val="273239"/>
                </a:solidFill>
                <a:effectLst/>
                <a:latin typeface="urw-din"/>
              </a:rPr>
              <a:t>textcoords</a:t>
            </a:r>
            <a:r>
              <a:rPr lang="en-US" b="1" i="1" dirty="0">
                <a:solidFill>
                  <a:srgbClr val="273239"/>
                </a:solidFill>
                <a:effectLst/>
                <a:latin typeface="urw-din"/>
              </a:rPr>
              <a:t>: 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This parameter contains the string 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urw-din"/>
              </a:rPr>
              <a:t>value.Coordinate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 system that 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urw-din"/>
              </a:rPr>
              <a:t>xytext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 is given, which may be different than the coordinate system used for 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urw-din"/>
              </a:rPr>
              <a:t>xy</a:t>
            </a:r>
            <a:endParaRPr lang="en-US" b="0" i="1" dirty="0">
              <a:solidFill>
                <a:srgbClr val="273239"/>
              </a:solidFill>
              <a:effectLst/>
              <a:latin typeface="urw-din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1" dirty="0" err="1">
                <a:solidFill>
                  <a:srgbClr val="273239"/>
                </a:solidFill>
                <a:effectLst/>
                <a:latin typeface="urw-din"/>
              </a:rPr>
              <a:t>arrowprops</a:t>
            </a:r>
            <a:r>
              <a:rPr lang="en-US" b="1" i="1" dirty="0">
                <a:solidFill>
                  <a:srgbClr val="273239"/>
                </a:solidFill>
                <a:effectLst/>
                <a:latin typeface="urw-din"/>
              </a:rPr>
              <a:t> : 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This parameter is also an optional parameter and contains 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urw-din"/>
              </a:rPr>
              <a:t>dict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urw-din"/>
              </a:rPr>
              <a:t>type.Its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 default value is None.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1" dirty="0" err="1">
                <a:solidFill>
                  <a:srgbClr val="273239"/>
                </a:solidFill>
                <a:effectLst/>
                <a:latin typeface="urw-din"/>
              </a:rPr>
              <a:t>annotation_clip</a:t>
            </a:r>
            <a:r>
              <a:rPr lang="en-US" b="1" i="1" dirty="0">
                <a:solidFill>
                  <a:srgbClr val="273239"/>
                </a:solidFill>
                <a:effectLst/>
                <a:latin typeface="urw-din"/>
              </a:rPr>
              <a:t> : 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This parameter is also an optional parameter and contains 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urw-din"/>
              </a:rPr>
              <a:t>boolean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 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urw-din"/>
              </a:rPr>
              <a:t>value.Its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 default value is None which behaves as True.</a:t>
            </a:r>
          </a:p>
          <a:p>
            <a:pPr algn="l" fontAlgn="base"/>
            <a:r>
              <a:rPr lang="en-US" b="1" i="1" dirty="0">
                <a:solidFill>
                  <a:srgbClr val="273239"/>
                </a:solidFill>
                <a:effectLst/>
                <a:latin typeface="urw-din"/>
              </a:rPr>
              <a:t>Returns:</a:t>
            </a:r>
            <a:r>
              <a:rPr lang="en-US" b="0" i="1" dirty="0">
                <a:solidFill>
                  <a:srgbClr val="273239"/>
                </a:solidFill>
                <a:effectLst/>
                <a:latin typeface="urw-din"/>
              </a:rPr>
              <a:t> This method returns the annotation.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2970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EFBD9-9D4F-4EE0-AA5B-4A716A561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7293A-7365-4968-97ED-7C0360C5C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2C225-85B3-4CFE-B301-98D038EAC3A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DDFF6C-9BB2-423F-9264-DF706173D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92" y="628925"/>
            <a:ext cx="8182708" cy="405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62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D4BD1-46C0-4854-894D-91C16A47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DF5C6-80BB-4F19-AE3C-8EF7CC0D7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6A254-5A8E-4486-AA95-096EAD6F081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ADFB60-2F96-4267-ACB2-E2B85145D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424" y="340209"/>
            <a:ext cx="5883152" cy="446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94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78B8-7573-439B-836D-9FD4FAE8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Scales and Twin Axis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A98-BD41-4D6A-9C75-FAE6B896F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E4046-9D5F-41C3-B999-9DBF8921111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C344D3-202E-42A0-89E4-4490C9E61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933" y="1268006"/>
            <a:ext cx="5868133" cy="373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55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2DED-399D-4BE0-B719-804CB0280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1964D-2187-43A6-9BF7-2F164C374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0FCE7-9517-46A8-913C-CF4DC748D6E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32591C-C82B-4E65-9418-B80C2DE6C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78" y="574775"/>
            <a:ext cx="5163065" cy="401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030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78B8-7573-439B-836D-9FD4FAE8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Boxplot and Violin Plots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A98-BD41-4D6A-9C75-FAE6B896F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import </a:t>
            </a:r>
            <a:r>
              <a:rPr lang="en-IN" b="1" dirty="0" err="1">
                <a:solidFill>
                  <a:schemeClr val="bg1"/>
                </a:solidFill>
              </a:rPr>
              <a:t>matplotlib.pyplot</a:t>
            </a:r>
            <a:r>
              <a:rPr lang="en-IN" b="1" dirty="0">
                <a:solidFill>
                  <a:schemeClr val="bg1"/>
                </a:solidFill>
              </a:rPr>
              <a:t> as </a:t>
            </a:r>
            <a:r>
              <a:rPr lang="en-IN" b="1" dirty="0" err="1">
                <a:solidFill>
                  <a:schemeClr val="bg1"/>
                </a:solidFill>
              </a:rPr>
              <a:t>plt</a:t>
            </a:r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import </a:t>
            </a:r>
            <a:r>
              <a:rPr lang="en-IN" b="1" dirty="0" err="1">
                <a:solidFill>
                  <a:schemeClr val="bg1"/>
                </a:solidFill>
              </a:rPr>
              <a:t>numpy</a:t>
            </a:r>
            <a:r>
              <a:rPr lang="en-IN" b="1" dirty="0">
                <a:solidFill>
                  <a:schemeClr val="bg1"/>
                </a:solidFill>
              </a:rPr>
              <a:t> as np</a:t>
            </a:r>
          </a:p>
          <a:p>
            <a:r>
              <a:rPr lang="en-IN" b="1" dirty="0" err="1">
                <a:solidFill>
                  <a:schemeClr val="bg1"/>
                </a:solidFill>
              </a:rPr>
              <a:t>np.random.seed</a:t>
            </a:r>
            <a:r>
              <a:rPr lang="en-IN" b="1" dirty="0">
                <a:solidFill>
                  <a:schemeClr val="bg1"/>
                </a:solidFill>
              </a:rPr>
              <a:t>(10)</a:t>
            </a:r>
          </a:p>
          <a:p>
            <a:r>
              <a:rPr lang="en-IN" b="1" dirty="0">
                <a:solidFill>
                  <a:schemeClr val="bg1"/>
                </a:solidFill>
              </a:rPr>
              <a:t>collectn_1 = </a:t>
            </a:r>
            <a:r>
              <a:rPr lang="en-IN" b="1" dirty="0" err="1">
                <a:solidFill>
                  <a:schemeClr val="bg1"/>
                </a:solidFill>
              </a:rPr>
              <a:t>np.random.normal</a:t>
            </a:r>
            <a:r>
              <a:rPr lang="en-IN" b="1" dirty="0">
                <a:solidFill>
                  <a:schemeClr val="bg1"/>
                </a:solidFill>
              </a:rPr>
              <a:t>(100, 10, 200)</a:t>
            </a:r>
          </a:p>
          <a:p>
            <a:r>
              <a:rPr lang="en-IN" b="1" dirty="0">
                <a:solidFill>
                  <a:schemeClr val="bg1"/>
                </a:solidFill>
              </a:rPr>
              <a:t>collectn_2 = </a:t>
            </a:r>
            <a:r>
              <a:rPr lang="en-IN" b="1" dirty="0" err="1">
                <a:solidFill>
                  <a:schemeClr val="bg1"/>
                </a:solidFill>
              </a:rPr>
              <a:t>np.random.normal</a:t>
            </a:r>
            <a:r>
              <a:rPr lang="en-IN" b="1" dirty="0">
                <a:solidFill>
                  <a:schemeClr val="bg1"/>
                </a:solidFill>
              </a:rPr>
              <a:t>(80, 30, 200)</a:t>
            </a:r>
          </a:p>
          <a:p>
            <a:r>
              <a:rPr lang="en-IN" b="1" dirty="0">
                <a:solidFill>
                  <a:schemeClr val="bg1"/>
                </a:solidFill>
              </a:rPr>
              <a:t>collectn_3 = </a:t>
            </a:r>
            <a:r>
              <a:rPr lang="en-IN" b="1" dirty="0" err="1">
                <a:solidFill>
                  <a:schemeClr val="bg1"/>
                </a:solidFill>
              </a:rPr>
              <a:t>np.random.normal</a:t>
            </a:r>
            <a:r>
              <a:rPr lang="en-IN" b="1" dirty="0">
                <a:solidFill>
                  <a:schemeClr val="bg1"/>
                </a:solidFill>
              </a:rPr>
              <a:t>(90, 20, 200)</a:t>
            </a:r>
          </a:p>
          <a:p>
            <a:r>
              <a:rPr lang="en-IN" b="1" dirty="0">
                <a:solidFill>
                  <a:schemeClr val="bg1"/>
                </a:solidFill>
              </a:rPr>
              <a:t>collectn_4 = </a:t>
            </a:r>
            <a:r>
              <a:rPr lang="en-IN" b="1" dirty="0" err="1">
                <a:solidFill>
                  <a:schemeClr val="bg1"/>
                </a:solidFill>
              </a:rPr>
              <a:t>np.random.normal</a:t>
            </a:r>
            <a:r>
              <a:rPr lang="en-IN" b="1" dirty="0">
                <a:solidFill>
                  <a:schemeClr val="bg1"/>
                </a:solidFill>
              </a:rPr>
              <a:t>(70, 25, 200)</a:t>
            </a:r>
          </a:p>
          <a:p>
            <a:r>
              <a:rPr lang="en-IN" b="1" dirty="0">
                <a:solidFill>
                  <a:schemeClr val="bg1"/>
                </a:solidFill>
              </a:rPr>
              <a:t>## combine these different collections into a list</a:t>
            </a:r>
          </a:p>
          <a:p>
            <a:r>
              <a:rPr lang="en-IN" b="1" dirty="0" err="1">
                <a:solidFill>
                  <a:schemeClr val="bg1"/>
                </a:solidFill>
              </a:rPr>
              <a:t>data_to_plot</a:t>
            </a:r>
            <a:r>
              <a:rPr lang="en-IN" b="1" dirty="0">
                <a:solidFill>
                  <a:schemeClr val="bg1"/>
                </a:solidFill>
              </a:rPr>
              <a:t> = [collectn_1, collectn_2, collectn_3, collectn_4]</a:t>
            </a:r>
          </a:p>
          <a:p>
            <a:r>
              <a:rPr lang="en-IN" b="1" dirty="0">
                <a:solidFill>
                  <a:schemeClr val="bg1"/>
                </a:solidFill>
              </a:rPr>
              <a:t># Create a figure instance</a:t>
            </a:r>
          </a:p>
          <a:p>
            <a:r>
              <a:rPr lang="en-IN" b="1" dirty="0">
                <a:solidFill>
                  <a:schemeClr val="bg1"/>
                </a:solidFill>
              </a:rPr>
              <a:t>fig = </a:t>
            </a:r>
            <a:r>
              <a:rPr lang="en-IN" b="1" dirty="0" err="1">
                <a:solidFill>
                  <a:schemeClr val="bg1"/>
                </a:solidFill>
              </a:rPr>
              <a:t>plt.figure</a:t>
            </a:r>
            <a:r>
              <a:rPr lang="en-IN" b="1" dirty="0">
                <a:solidFill>
                  <a:schemeClr val="bg1"/>
                </a:solidFill>
              </a:rPr>
              <a:t>()</a:t>
            </a:r>
          </a:p>
          <a:p>
            <a:r>
              <a:rPr lang="en-IN" b="1" dirty="0">
                <a:solidFill>
                  <a:schemeClr val="bg1"/>
                </a:solidFill>
              </a:rPr>
              <a:t># Create an axes instance</a:t>
            </a:r>
          </a:p>
          <a:p>
            <a:r>
              <a:rPr lang="en-IN" b="1" dirty="0" err="1">
                <a:solidFill>
                  <a:schemeClr val="bg1"/>
                </a:solidFill>
              </a:rPr>
              <a:t>ax</a:t>
            </a:r>
            <a:r>
              <a:rPr lang="en-IN" b="1" dirty="0">
                <a:solidFill>
                  <a:schemeClr val="bg1"/>
                </a:solidFill>
              </a:rPr>
              <a:t> = </a:t>
            </a:r>
            <a:r>
              <a:rPr lang="en-IN" b="1" dirty="0" err="1">
                <a:solidFill>
                  <a:schemeClr val="bg1"/>
                </a:solidFill>
              </a:rPr>
              <a:t>fig.add_axes</a:t>
            </a:r>
            <a:r>
              <a:rPr lang="en-IN" b="1" dirty="0">
                <a:solidFill>
                  <a:schemeClr val="bg1"/>
                </a:solidFill>
              </a:rPr>
              <a:t>([0,0,1,1])</a:t>
            </a:r>
          </a:p>
          <a:p>
            <a:r>
              <a:rPr lang="en-IN" b="1" dirty="0">
                <a:solidFill>
                  <a:schemeClr val="bg1"/>
                </a:solidFill>
              </a:rPr>
              <a:t># Create the boxplot</a:t>
            </a:r>
          </a:p>
          <a:p>
            <a:r>
              <a:rPr lang="en-IN" b="1" dirty="0">
                <a:solidFill>
                  <a:schemeClr val="bg1"/>
                </a:solidFill>
              </a:rPr>
              <a:t>bp = </a:t>
            </a:r>
            <a:r>
              <a:rPr lang="en-IN" b="1" dirty="0" err="1">
                <a:solidFill>
                  <a:schemeClr val="bg1"/>
                </a:solidFill>
              </a:rPr>
              <a:t>ax.violinplot</a:t>
            </a:r>
            <a:r>
              <a:rPr lang="en-IN" b="1" dirty="0">
                <a:solidFill>
                  <a:schemeClr val="bg1"/>
                </a:solidFill>
              </a:rPr>
              <a:t>(</a:t>
            </a:r>
            <a:r>
              <a:rPr lang="en-IN" b="1" dirty="0" err="1">
                <a:solidFill>
                  <a:schemeClr val="bg1"/>
                </a:solidFill>
              </a:rPr>
              <a:t>data_to_plot</a:t>
            </a:r>
            <a:r>
              <a:rPr lang="en-IN" b="1" dirty="0">
                <a:solidFill>
                  <a:schemeClr val="bg1"/>
                </a:solidFill>
              </a:rPr>
              <a:t>)</a:t>
            </a:r>
          </a:p>
          <a:p>
            <a:r>
              <a:rPr lang="en-IN" b="1" dirty="0" err="1">
                <a:solidFill>
                  <a:schemeClr val="bg1"/>
                </a:solidFill>
              </a:rPr>
              <a:t>plt.show</a:t>
            </a:r>
            <a:r>
              <a:rPr lang="en-IN" b="1" dirty="0">
                <a:solidFill>
                  <a:schemeClr val="bg1"/>
                </a:solidFill>
              </a:rPr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10BF95-0D05-49DB-B3A6-FA4EB5988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856" y="1282761"/>
            <a:ext cx="3347522" cy="257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10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78B8-7573-439B-836D-9FD4FAE8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Visualize Titanic Dataset with Box and Violin plots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A98-BD41-4D6A-9C75-FAE6B896F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00" y="2286995"/>
            <a:ext cx="8533362" cy="1081925"/>
          </a:xfrm>
        </p:spPr>
        <p:txBody>
          <a:bodyPr>
            <a:norm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https://towardsdatascience.com/predicting-the-survival-of-titanic-passengers-30870ccc7e8</a:t>
            </a:r>
          </a:p>
        </p:txBody>
      </p:sp>
    </p:spTree>
    <p:extLst>
      <p:ext uri="{BB962C8B-B14F-4D97-AF65-F5344CB8AC3E}">
        <p14:creationId xmlns:p14="http://schemas.microsoft.com/office/powerpoint/2010/main" val="1268523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78B8-7573-439B-836D-9FD4FAE8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Stacked Plots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A98-BD41-4D6A-9C75-FAE6B896F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# importing package</a:t>
            </a:r>
          </a:p>
          <a:p>
            <a:r>
              <a:rPr lang="en-IN" b="1" dirty="0">
                <a:solidFill>
                  <a:schemeClr val="bg1"/>
                </a:solidFill>
              </a:rPr>
              <a:t>import </a:t>
            </a:r>
            <a:r>
              <a:rPr lang="en-IN" b="1" dirty="0" err="1">
                <a:solidFill>
                  <a:schemeClr val="bg1"/>
                </a:solidFill>
              </a:rPr>
              <a:t>matplotlib.pyplot</a:t>
            </a:r>
            <a:r>
              <a:rPr lang="en-IN" b="1" dirty="0">
                <a:solidFill>
                  <a:schemeClr val="bg1"/>
                </a:solidFill>
              </a:rPr>
              <a:t> as </a:t>
            </a:r>
            <a:r>
              <a:rPr lang="en-IN" b="1" dirty="0" err="1">
                <a:solidFill>
                  <a:schemeClr val="bg1"/>
                </a:solidFill>
              </a:rPr>
              <a:t>plt</a:t>
            </a:r>
            <a:endParaRPr lang="en-IN" b="1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# create data</a:t>
            </a:r>
          </a:p>
          <a:p>
            <a:r>
              <a:rPr lang="en-IN" b="1" dirty="0">
                <a:solidFill>
                  <a:schemeClr val="bg1"/>
                </a:solidFill>
              </a:rPr>
              <a:t>x = ['A', 'B', 'C', 'D']</a:t>
            </a:r>
          </a:p>
          <a:p>
            <a:r>
              <a:rPr lang="en-IN" b="1" dirty="0">
                <a:solidFill>
                  <a:schemeClr val="bg1"/>
                </a:solidFill>
              </a:rPr>
              <a:t>y1 = [10, 20, 10, 30]</a:t>
            </a:r>
          </a:p>
          <a:p>
            <a:r>
              <a:rPr lang="en-IN" b="1" dirty="0">
                <a:solidFill>
                  <a:schemeClr val="bg1"/>
                </a:solidFill>
              </a:rPr>
              <a:t>y2 = [20, 25, 15, 25]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# plot bars in stack manner</a:t>
            </a:r>
          </a:p>
          <a:p>
            <a:r>
              <a:rPr lang="en-IN" b="1" dirty="0" err="1">
                <a:solidFill>
                  <a:schemeClr val="bg1"/>
                </a:solidFill>
              </a:rPr>
              <a:t>plt.bar</a:t>
            </a:r>
            <a:r>
              <a:rPr lang="en-IN" b="1" dirty="0">
                <a:solidFill>
                  <a:schemeClr val="bg1"/>
                </a:solidFill>
              </a:rPr>
              <a:t>(x, y1, </a:t>
            </a:r>
            <a:r>
              <a:rPr lang="en-IN" b="1" dirty="0" err="1">
                <a:solidFill>
                  <a:schemeClr val="bg1"/>
                </a:solidFill>
              </a:rPr>
              <a:t>color</a:t>
            </a:r>
            <a:r>
              <a:rPr lang="en-IN" b="1" dirty="0">
                <a:solidFill>
                  <a:schemeClr val="bg1"/>
                </a:solidFill>
              </a:rPr>
              <a:t>='r')</a:t>
            </a:r>
          </a:p>
          <a:p>
            <a:r>
              <a:rPr lang="en-IN" b="1" dirty="0" err="1">
                <a:solidFill>
                  <a:schemeClr val="bg1"/>
                </a:solidFill>
              </a:rPr>
              <a:t>plt.bar</a:t>
            </a:r>
            <a:r>
              <a:rPr lang="en-IN" b="1" dirty="0">
                <a:solidFill>
                  <a:schemeClr val="bg1"/>
                </a:solidFill>
              </a:rPr>
              <a:t>(x, y2, bottom=y1, </a:t>
            </a:r>
            <a:r>
              <a:rPr lang="en-IN" b="1" dirty="0" err="1">
                <a:solidFill>
                  <a:schemeClr val="bg1"/>
                </a:solidFill>
              </a:rPr>
              <a:t>color</a:t>
            </a:r>
            <a:r>
              <a:rPr lang="en-IN" b="1" dirty="0">
                <a:solidFill>
                  <a:schemeClr val="bg1"/>
                </a:solidFill>
              </a:rPr>
              <a:t>='b')</a:t>
            </a:r>
          </a:p>
          <a:p>
            <a:r>
              <a:rPr lang="en-IN" b="1" dirty="0" err="1">
                <a:solidFill>
                  <a:schemeClr val="bg1"/>
                </a:solidFill>
              </a:rPr>
              <a:t>plt.show</a:t>
            </a:r>
            <a:r>
              <a:rPr lang="en-IN" b="1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E4046-9D5F-41C3-B999-9DBF8921111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16C7E3-FED8-4926-82A6-A8094A23E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853" y="1489825"/>
            <a:ext cx="3868594" cy="289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985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78B8-7573-439B-836D-9FD4FAE8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Pie Charts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A98-BD41-4D6A-9C75-FAE6B896F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E4046-9D5F-41C3-B999-9DBF8921111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09BD36-35BC-433F-A3AD-4CD658356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99" y="1489825"/>
            <a:ext cx="5743269" cy="307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02829E-9EAC-4AA8-8900-D9D8C5B44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506" y="1721127"/>
            <a:ext cx="2256532" cy="246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840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78B8-7573-439B-836D-9FD4FAE8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Color Maps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A98-BD41-4D6A-9C75-FAE6B896F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899" y="1489825"/>
            <a:ext cx="6130131" cy="3078900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import </a:t>
            </a:r>
            <a:r>
              <a:rPr lang="en-IN" b="1" dirty="0" err="1">
                <a:solidFill>
                  <a:schemeClr val="bg1"/>
                </a:solidFill>
              </a:rPr>
              <a:t>matplotlib.pyplot</a:t>
            </a:r>
            <a:r>
              <a:rPr lang="en-IN" b="1" dirty="0">
                <a:solidFill>
                  <a:schemeClr val="bg1"/>
                </a:solidFill>
              </a:rPr>
              <a:t> as </a:t>
            </a:r>
            <a:r>
              <a:rPr lang="en-IN" b="1" dirty="0" err="1">
                <a:solidFill>
                  <a:schemeClr val="bg1"/>
                </a:solidFill>
              </a:rPr>
              <a:t>plt</a:t>
            </a:r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 err="1">
                <a:solidFill>
                  <a:schemeClr val="bg1"/>
                </a:solidFill>
              </a:rPr>
              <a:t>plt.style.use</a:t>
            </a:r>
            <a:r>
              <a:rPr lang="en-IN" b="1" dirty="0">
                <a:solidFill>
                  <a:schemeClr val="bg1"/>
                </a:solidFill>
              </a:rPr>
              <a:t>('classic')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import </a:t>
            </a:r>
            <a:r>
              <a:rPr lang="en-IN" b="1" dirty="0" err="1">
                <a:solidFill>
                  <a:schemeClr val="bg1"/>
                </a:solidFill>
              </a:rPr>
              <a:t>numpy</a:t>
            </a:r>
            <a:r>
              <a:rPr lang="en-IN" b="1" dirty="0">
                <a:solidFill>
                  <a:schemeClr val="bg1"/>
                </a:solidFill>
              </a:rPr>
              <a:t> as np</a:t>
            </a:r>
          </a:p>
          <a:p>
            <a:r>
              <a:rPr lang="en-IN" b="1" dirty="0">
                <a:solidFill>
                  <a:schemeClr val="bg1"/>
                </a:solidFill>
              </a:rPr>
              <a:t>x = </a:t>
            </a:r>
            <a:r>
              <a:rPr lang="en-IN" b="1" dirty="0" err="1">
                <a:solidFill>
                  <a:schemeClr val="bg1"/>
                </a:solidFill>
              </a:rPr>
              <a:t>np.linspace</a:t>
            </a:r>
            <a:r>
              <a:rPr lang="en-IN" b="1" dirty="0">
                <a:solidFill>
                  <a:schemeClr val="bg1"/>
                </a:solidFill>
              </a:rPr>
              <a:t>(0, 10, 1000)</a:t>
            </a:r>
          </a:p>
          <a:p>
            <a:r>
              <a:rPr lang="en-IN" b="1" dirty="0">
                <a:solidFill>
                  <a:schemeClr val="bg1"/>
                </a:solidFill>
              </a:rPr>
              <a:t>I = </a:t>
            </a:r>
            <a:r>
              <a:rPr lang="en-IN" b="1" dirty="0" err="1">
                <a:solidFill>
                  <a:schemeClr val="bg1"/>
                </a:solidFill>
              </a:rPr>
              <a:t>np.sin</a:t>
            </a:r>
            <a:r>
              <a:rPr lang="en-IN" b="1" dirty="0">
                <a:solidFill>
                  <a:schemeClr val="bg1"/>
                </a:solidFill>
              </a:rPr>
              <a:t>(x) * </a:t>
            </a:r>
            <a:r>
              <a:rPr lang="en-IN" b="1" dirty="0" err="1">
                <a:solidFill>
                  <a:schemeClr val="bg1"/>
                </a:solidFill>
              </a:rPr>
              <a:t>np.cos</a:t>
            </a:r>
            <a:r>
              <a:rPr lang="en-IN" b="1" dirty="0">
                <a:solidFill>
                  <a:schemeClr val="bg1"/>
                </a:solidFill>
              </a:rPr>
              <a:t>(x[:, </a:t>
            </a:r>
            <a:r>
              <a:rPr lang="en-IN" b="1" dirty="0" err="1">
                <a:solidFill>
                  <a:schemeClr val="bg1"/>
                </a:solidFill>
              </a:rPr>
              <a:t>np.newaxis</a:t>
            </a:r>
            <a:r>
              <a:rPr lang="en-IN" b="1" dirty="0">
                <a:solidFill>
                  <a:schemeClr val="bg1"/>
                </a:solidFill>
              </a:rPr>
              <a:t>])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 err="1">
                <a:solidFill>
                  <a:schemeClr val="bg1"/>
                </a:solidFill>
              </a:rPr>
              <a:t>plt.imshow</a:t>
            </a:r>
            <a:r>
              <a:rPr lang="en-IN" b="1" dirty="0">
                <a:solidFill>
                  <a:schemeClr val="bg1"/>
                </a:solidFill>
              </a:rPr>
              <a:t>(I)</a:t>
            </a:r>
          </a:p>
          <a:p>
            <a:r>
              <a:rPr lang="en-IN" b="1" dirty="0" err="1">
                <a:solidFill>
                  <a:schemeClr val="bg1"/>
                </a:solidFill>
              </a:rPr>
              <a:t>plt.colorbar</a:t>
            </a:r>
            <a:r>
              <a:rPr lang="en-IN" b="1" dirty="0">
                <a:solidFill>
                  <a:schemeClr val="bg1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000067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78B8-7573-439B-836D-9FD4FAE8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Autocorrelation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0A98-BD41-4D6A-9C75-FAE6B896F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Autocorrelation plots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 are a commonly used tool for checking randomness in a data set. This randomness is ascertained by computing autocorrelations for data values at varying time lags.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E4046-9D5F-41C3-B999-9DBF8921111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92500" lnSpcReduction="10000"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It measures a set of current values against a set of past values and finds whether they correlate.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It is the correlation of one-time series data to another time series data which has a time lag.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It varies from +1 to -1.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An autocorrelation of +1 indicates that if time series one increases in value the time series 2 also increases in proportion to the change in time series 1.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An autocorrelation of -1 indicates that if time series one increases in value the time series 2 decreases in proportion to the change in time series 1.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5661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4F47A-0F8F-4752-9521-CB35C95B0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3AD37-B6C9-4E7C-ADD5-82805EE57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A2A3A-9BA1-4C97-A993-F8541610872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57921-D76E-48F9-9291-8DB6578C8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00" y="229012"/>
            <a:ext cx="5603081" cy="4685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7EDE1E-0120-4BD1-936C-321389665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900" y="1184793"/>
            <a:ext cx="2781996" cy="229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80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61DB-6AC3-4A17-9790-5F096CD4D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Exercise 1: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E3672-76E0-48A1-84AC-F68E9954B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EDCEC-B138-4A32-80D7-BE2D80866B0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0" y="3925"/>
            <a:ext cx="3999900" cy="3078900"/>
          </a:xfrm>
        </p:spPr>
        <p:txBody>
          <a:bodyPr/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Helvetica" panose="020B0604020202020204" pitchFamily="34" charset="0"/>
              </a:rPr>
              <a:t>Write a Python programming to display a bar chart of the popularity of programming Languages. 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i="0" dirty="0">
                <a:solidFill>
                  <a:schemeClr val="bg1"/>
                </a:solidFill>
                <a:effectLst/>
                <a:latin typeface="Helvetica" panose="020B0604020202020204" pitchFamily="34" charset="0"/>
              </a:rPr>
              <a:t>Sample data: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i="0" dirty="0">
                <a:solidFill>
                  <a:schemeClr val="bg1"/>
                </a:solidFill>
                <a:effectLst/>
                <a:latin typeface="Helvetica" panose="020B0604020202020204" pitchFamily="34" charset="0"/>
              </a:rPr>
              <a:t>Programming languages: Java, Python, PHP, JavaScript, C#, C++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i="0" dirty="0">
                <a:solidFill>
                  <a:schemeClr val="bg1"/>
                </a:solidFill>
                <a:effectLst/>
                <a:latin typeface="Helvetica" panose="020B0604020202020204" pitchFamily="34" charset="0"/>
              </a:rPr>
              <a:t>Popularity: 22.2, 17.6, 8.8, 8, 7.7, 6.7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i="0" dirty="0">
                <a:solidFill>
                  <a:schemeClr val="bg1"/>
                </a:solidFill>
                <a:effectLst/>
                <a:latin typeface="Helvetica" panose="020B0604020202020204" pitchFamily="34" charset="0"/>
              </a:rPr>
              <a:t>The code snippet gives the output shown in the following screenshot:</a:t>
            </a:r>
            <a:br>
              <a:rPr lang="en-US" b="1" dirty="0">
                <a:solidFill>
                  <a:schemeClr val="bg1"/>
                </a:solidFill>
              </a:rPr>
            </a:br>
            <a:endParaRPr lang="en-IN" b="1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DADEE5-DFD6-4A50-BFDF-0334B733F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26" y="1489825"/>
            <a:ext cx="3803947" cy="2936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A3DEC9-A5E9-4454-B7D9-7A7A8A161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026" y="2571750"/>
            <a:ext cx="3241874" cy="238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208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C17C1-7A39-49BF-A188-8A28C13B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Exercise 2: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5248A-DD79-480D-B69F-74949263C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Helvetica" panose="020B0604020202020204" pitchFamily="34" charset="0"/>
              </a:rPr>
              <a:t>Write a Python programming to display a bar chart of the popularity of programming Languages. 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i="0" dirty="0">
                <a:solidFill>
                  <a:schemeClr val="bg1"/>
                </a:solidFill>
                <a:effectLst/>
                <a:latin typeface="Helvetica" panose="020B0604020202020204" pitchFamily="34" charset="0"/>
              </a:rPr>
              <a:t>Sample data: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i="0" dirty="0">
                <a:solidFill>
                  <a:schemeClr val="bg1"/>
                </a:solidFill>
                <a:effectLst/>
                <a:latin typeface="Helvetica" panose="020B0604020202020204" pitchFamily="34" charset="0"/>
              </a:rPr>
              <a:t>Programming languages: Java, Python, PHP, JavaScript, C#, C++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i="0" dirty="0">
                <a:solidFill>
                  <a:schemeClr val="bg1"/>
                </a:solidFill>
                <a:effectLst/>
                <a:latin typeface="Helvetica" panose="020B0604020202020204" pitchFamily="34" charset="0"/>
              </a:rPr>
              <a:t>Popularity: 22.2, 17.6, 8.8, 8, 7.7, 6.7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i="0" dirty="0">
                <a:solidFill>
                  <a:schemeClr val="bg1"/>
                </a:solidFill>
                <a:effectLst/>
                <a:latin typeface="Helvetica" panose="020B0604020202020204" pitchFamily="34" charset="0"/>
              </a:rPr>
              <a:t>The code snippet gives the output shown in the following screenshot:</a:t>
            </a:r>
            <a:br>
              <a:rPr lang="en-US" b="1" dirty="0">
                <a:solidFill>
                  <a:schemeClr val="bg1"/>
                </a:solidFill>
              </a:rPr>
            </a:b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1F39B-05E4-41D0-8185-E98EC07057D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B7A3A4-E1ED-446A-BBA5-1A5D1EF9D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600" y="1489825"/>
            <a:ext cx="400050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49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89BC-17F0-45BE-BF52-9E35FFDB7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43EFF-033D-4FA1-9A7D-A90A5123A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1C12A-981A-41FA-ADD8-879B5A861E9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F36BA0-5721-449F-9A72-E4008175F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20" y="0"/>
            <a:ext cx="697616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55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12DBF-756B-4D9C-A941-0C714696D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FEBA4-CFC8-49FC-B1D3-C3DCBB884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D18B6-5176-4531-A594-86EBFD075FA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83C04B-9761-49CC-99D6-F0330A14B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20" y="0"/>
            <a:ext cx="6942959" cy="502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70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D70C2-B915-4B98-8ACB-D8FB7304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1DBF9-4DF6-494C-A7B4-6ABAFE914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2610FC-E1E0-46DC-A8B7-1E9F333FF5D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2A19CC-0141-4940-B3DA-6D096FAA2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75" y="122909"/>
            <a:ext cx="6849769" cy="489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569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8DBAE-CAE3-41EA-BAA5-119D0A248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664D0-1B54-46A6-B1CD-E8A6D2720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280ED-32B4-41E2-8356-BD8A9CC3DDD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09BB83-359F-407C-8169-5C16D6DBC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58" y="249580"/>
            <a:ext cx="6580902" cy="489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4126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EC9C6-54D1-4CD0-8B16-945BDFB5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0DA4A-4D05-4F20-B6EC-4CC7C3812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23ED5-7B45-4F20-A52D-90DA72F7050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FC6918-2384-4B27-8E04-E36BD82DA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834" y="121149"/>
            <a:ext cx="6770732" cy="490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455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93171-307D-45C6-BA68-99665F92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4A634-F796-45F9-8496-FA82801E5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B60C2-DF3F-4C8F-BED8-CC552A61660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70C87F-4E7F-4221-9A22-038BAE08D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41" y="-141865"/>
            <a:ext cx="5878984" cy="445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052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47D54-2F08-47D1-8DF9-31503271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1EA38-3B59-42F5-8063-285419EA1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F895F-99FB-476D-A34C-BCE2A87402B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C2B049-B914-4E47-B323-4E381B75C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311" y="203620"/>
            <a:ext cx="6405377" cy="493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4"/>
          <p:cNvSpPr txBox="1">
            <a:spLocks noGrp="1"/>
          </p:cNvSpPr>
          <p:nvPr>
            <p:ph type="title" idx="4294967295"/>
          </p:nvPr>
        </p:nvSpPr>
        <p:spPr>
          <a:xfrm>
            <a:off x="2306475" y="1956294"/>
            <a:ext cx="4626300" cy="8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300" b="1">
                <a:solidFill>
                  <a:srgbClr val="243168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5300" b="1">
              <a:solidFill>
                <a:srgbClr val="2431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44">
            <a:hlinkClick r:id="rId3"/>
          </p:cNvPr>
          <p:cNvSpPr/>
          <p:nvPr/>
        </p:nvSpPr>
        <p:spPr>
          <a:xfrm>
            <a:off x="2582638" y="3317000"/>
            <a:ext cx="338345" cy="338295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7" name="Google Shape;367;p44"/>
          <p:cNvGrpSpPr/>
          <p:nvPr/>
        </p:nvGrpSpPr>
        <p:grpSpPr>
          <a:xfrm>
            <a:off x="3788788" y="3316999"/>
            <a:ext cx="338366" cy="338332"/>
            <a:chOff x="812101" y="2571761"/>
            <a:chExt cx="417066" cy="417024"/>
          </a:xfrm>
        </p:grpSpPr>
        <p:sp>
          <p:nvSpPr>
            <p:cNvPr id="368" name="Google Shape;368;p44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4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4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4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44"/>
          <p:cNvGrpSpPr/>
          <p:nvPr/>
        </p:nvGrpSpPr>
        <p:grpSpPr>
          <a:xfrm>
            <a:off x="4994983" y="3316986"/>
            <a:ext cx="338332" cy="338332"/>
            <a:chOff x="1323129" y="2571761"/>
            <a:chExt cx="417024" cy="417024"/>
          </a:xfrm>
        </p:grpSpPr>
        <p:sp>
          <p:nvSpPr>
            <p:cNvPr id="373" name="Google Shape;373;p44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4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p44">
            <a:hlinkClick r:id="rId4"/>
          </p:cNvPr>
          <p:cNvSpPr/>
          <p:nvPr/>
        </p:nvSpPr>
        <p:spPr>
          <a:xfrm>
            <a:off x="6221328" y="3347519"/>
            <a:ext cx="340022" cy="277263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44"/>
          <p:cNvPicPr preferRelativeResize="0"/>
          <p:nvPr/>
        </p:nvPicPr>
        <p:blipFill rotWithShape="1">
          <a:blip r:embed="rId5">
            <a:alphaModFix/>
          </a:blip>
          <a:srcRect l="-2426" t="-17515" r="-4012" b="-5485"/>
          <a:stretch/>
        </p:blipFill>
        <p:spPr>
          <a:xfrm>
            <a:off x="2724650" y="782750"/>
            <a:ext cx="3505198" cy="96725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4"/>
          <p:cNvSpPr txBox="1"/>
          <p:nvPr/>
        </p:nvSpPr>
        <p:spPr>
          <a:xfrm>
            <a:off x="6193675" y="4753100"/>
            <a:ext cx="29331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EE343A"/>
                </a:solidFill>
                <a:latin typeface="Arial"/>
                <a:ea typeface="Arial"/>
                <a:cs typeface="Arial"/>
                <a:sym typeface="Arial"/>
              </a:rPr>
              <a:t>www.skillslash.com</a:t>
            </a:r>
            <a:endParaRPr sz="1300" b="0" i="0" u="none" strike="noStrike" cap="none">
              <a:solidFill>
                <a:srgbClr val="EE343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80" name="Google Shape;380;p44"/>
          <p:cNvGrpSpPr/>
          <p:nvPr/>
        </p:nvGrpSpPr>
        <p:grpSpPr>
          <a:xfrm>
            <a:off x="0" y="5000700"/>
            <a:ext cx="9144000" cy="142800"/>
            <a:chOff x="0" y="0"/>
            <a:chExt cx="9144000" cy="142800"/>
          </a:xfrm>
        </p:grpSpPr>
        <p:sp>
          <p:nvSpPr>
            <p:cNvPr id="381" name="Google Shape;381;p44"/>
            <p:cNvSpPr txBox="1"/>
            <p:nvPr/>
          </p:nvSpPr>
          <p:spPr>
            <a:xfrm>
              <a:off x="3575800" y="0"/>
              <a:ext cx="1856100" cy="142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2" name="Google Shape;382;p44"/>
            <p:cNvSpPr txBox="1"/>
            <p:nvPr/>
          </p:nvSpPr>
          <p:spPr>
            <a:xfrm>
              <a:off x="1856000" y="0"/>
              <a:ext cx="1856100" cy="142800"/>
            </a:xfrm>
            <a:prstGeom prst="rect">
              <a:avLst/>
            </a:prstGeom>
            <a:solidFill>
              <a:srgbClr val="EE343A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3" name="Google Shape;383;p44"/>
            <p:cNvSpPr txBox="1"/>
            <p:nvPr/>
          </p:nvSpPr>
          <p:spPr>
            <a:xfrm>
              <a:off x="5431900" y="0"/>
              <a:ext cx="1856100" cy="142800"/>
            </a:xfrm>
            <a:prstGeom prst="rect">
              <a:avLst/>
            </a:prstGeom>
            <a:solidFill>
              <a:srgbClr val="F6851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4" name="Google Shape;384;p44"/>
            <p:cNvSpPr txBox="1"/>
            <p:nvPr/>
          </p:nvSpPr>
          <p:spPr>
            <a:xfrm>
              <a:off x="7287900" y="0"/>
              <a:ext cx="1856100" cy="142800"/>
            </a:xfrm>
            <a:prstGeom prst="rect">
              <a:avLst/>
            </a:prstGeom>
            <a:solidFill>
              <a:srgbClr val="D6DF2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5" name="Google Shape;385;p44"/>
            <p:cNvSpPr txBox="1"/>
            <p:nvPr/>
          </p:nvSpPr>
          <p:spPr>
            <a:xfrm>
              <a:off x="0" y="0"/>
              <a:ext cx="1856100" cy="142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1902</TotalTime>
  <Words>1718</Words>
  <Application>Microsoft Office PowerPoint</Application>
  <PresentationFormat>On-screen Show (16:9)</PresentationFormat>
  <Paragraphs>112</Paragraphs>
  <Slides>38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Arial</vt:lpstr>
      <vt:lpstr>Helvetica</vt:lpstr>
      <vt:lpstr>Montserrat</vt:lpstr>
      <vt:lpstr>Nunito</vt:lpstr>
      <vt:lpstr>Roboto</vt:lpstr>
      <vt:lpstr>Roboto Slab</vt:lpstr>
      <vt:lpstr>urw-din</vt:lpstr>
      <vt:lpstr>Simple Light</vt:lpstr>
      <vt:lpstr>Marina</vt:lpstr>
      <vt:lpstr>Python</vt:lpstr>
      <vt:lpstr>MatplotLib</vt:lpstr>
      <vt:lpstr>Import matplotlib</vt:lpstr>
      <vt:lpstr>Line plots</vt:lpstr>
      <vt:lpstr>Bar Plots</vt:lpstr>
      <vt:lpstr>Histogram and Bar plot difference</vt:lpstr>
      <vt:lpstr>Histogram Plots</vt:lpstr>
      <vt:lpstr>Scatter Plots</vt:lpstr>
      <vt:lpstr>Figures and Axes</vt:lpstr>
      <vt:lpstr>PowerPoint Presentation</vt:lpstr>
      <vt:lpstr>WaterMark</vt:lpstr>
      <vt:lpstr>Shapes</vt:lpstr>
      <vt:lpstr>Polygon and Arrows</vt:lpstr>
      <vt:lpstr>Polygon and Arrows</vt:lpstr>
      <vt:lpstr>Beizer Curves</vt:lpstr>
      <vt:lpstr>Curves</vt:lpstr>
      <vt:lpstr>Annotations</vt:lpstr>
      <vt:lpstr>PowerPoint Presentation</vt:lpstr>
      <vt:lpstr>PowerPoint Presentation</vt:lpstr>
      <vt:lpstr>Scales and Twin Axis</vt:lpstr>
      <vt:lpstr>PowerPoint Presentation</vt:lpstr>
      <vt:lpstr>Boxplot and Violin Plots</vt:lpstr>
      <vt:lpstr>Visualize Titanic Dataset with Box and Violin plots</vt:lpstr>
      <vt:lpstr>Stacked Plots</vt:lpstr>
      <vt:lpstr>Pie Charts</vt:lpstr>
      <vt:lpstr>Color Maps</vt:lpstr>
      <vt:lpstr>Autocorrelation</vt:lpstr>
      <vt:lpstr>PowerPoint Presentation</vt:lpstr>
      <vt:lpstr>Exercise 1:</vt:lpstr>
      <vt:lpstr>Exercise 2: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cp:lastModifiedBy>Priyanka Sharma</cp:lastModifiedBy>
  <cp:revision>42</cp:revision>
  <dcterms:modified xsi:type="dcterms:W3CDTF">2022-03-11T03:29:45Z</dcterms:modified>
</cp:coreProperties>
</file>